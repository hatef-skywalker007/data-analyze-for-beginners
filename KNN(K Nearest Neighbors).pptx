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notesMasterIdLst>
    <p:notesMasterId r:id="rId19"/>
  </p:notesMasterIdLst>
  <p:sldIdLst>
    <p:sldId id="256" r:id="rId2"/>
    <p:sldId id="258" r:id="rId3"/>
    <p:sldId id="259" r:id="rId4"/>
    <p:sldId id="262" r:id="rId5"/>
    <p:sldId id="260" r:id="rId6"/>
    <p:sldId id="261" r:id="rId7"/>
    <p:sldId id="263" r:id="rId8"/>
    <p:sldId id="264" r:id="rId9"/>
    <p:sldId id="265" r:id="rId10"/>
    <p:sldId id="266" r:id="rId11"/>
    <p:sldId id="267" r:id="rId12"/>
    <p:sldId id="268" r:id="rId13"/>
    <p:sldId id="269" r:id="rId14"/>
    <p:sldId id="270" r:id="rId15"/>
    <p:sldId id="271" r:id="rId16"/>
    <p:sldId id="272" r:id="rId17"/>
    <p:sldId id="273"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_rels/data2.xml.rels><?xml version="1.0" encoding="UTF-8" standalone="yes"?>
<Relationships xmlns="http://schemas.openxmlformats.org/package/2006/relationships"><Relationship Id="rId8" Type="http://schemas.openxmlformats.org/officeDocument/2006/relationships/hyperlink" Target="https://www.deepseek.com/en/" TargetMode="External"/><Relationship Id="rId3" Type="http://schemas.openxmlformats.org/officeDocument/2006/relationships/hyperlink" Target="https://scikit-learn.org/stable/api/sklearn.datasets.html" TargetMode="External"/><Relationship Id="rId7" Type="http://schemas.openxmlformats.org/officeDocument/2006/relationships/hyperlink" Target="https://blog.faradars.org/introduction-to-machine-learning/" TargetMode="External"/><Relationship Id="rId2" Type="http://schemas.openxmlformats.org/officeDocument/2006/relationships/hyperlink" Target="https://matplotlib.org/" TargetMode="External"/><Relationship Id="rId1" Type="http://schemas.openxmlformats.org/officeDocument/2006/relationships/hyperlink" Target="https://numpy.org/" TargetMode="External"/><Relationship Id="rId6" Type="http://schemas.openxmlformats.org/officeDocument/2006/relationships/hyperlink" Target="https://www.python.org/" TargetMode="External"/><Relationship Id="rId5" Type="http://schemas.openxmlformats.org/officeDocument/2006/relationships/hyperlink" Target="https://docs.python.org/3/library/collections.html" TargetMode="External"/><Relationship Id="rId4" Type="http://schemas.openxmlformats.org/officeDocument/2006/relationships/hyperlink" Target="https://scikit-learn.org/stable/modules/generated/sklearn.neighbors.KNeighborsClassifier.html" TargetMode="External"/><Relationship Id="rId9" Type="http://schemas.openxmlformats.org/officeDocument/2006/relationships/hyperlink" Target="https://www.w3schools.com/ai/ai_machine_learning.asp" TargetMode="External"/></Relationships>
</file>

<file path=ppt/diagrams/_rels/drawing2.xml.rels><?xml version="1.0" encoding="UTF-8" standalone="yes"?>
<Relationships xmlns="http://schemas.openxmlformats.org/package/2006/relationships"><Relationship Id="rId8" Type="http://schemas.openxmlformats.org/officeDocument/2006/relationships/hyperlink" Target="https://www.deepseek.com/en/" TargetMode="External"/><Relationship Id="rId3" Type="http://schemas.openxmlformats.org/officeDocument/2006/relationships/hyperlink" Target="https://scikit-learn.org/stable/api/sklearn.datasets.html" TargetMode="External"/><Relationship Id="rId7" Type="http://schemas.openxmlformats.org/officeDocument/2006/relationships/hyperlink" Target="https://blog.faradars.org/introduction-to-machine-learning/" TargetMode="External"/><Relationship Id="rId2" Type="http://schemas.openxmlformats.org/officeDocument/2006/relationships/hyperlink" Target="https://matplotlib.org/" TargetMode="External"/><Relationship Id="rId1" Type="http://schemas.openxmlformats.org/officeDocument/2006/relationships/hyperlink" Target="https://numpy.org/" TargetMode="External"/><Relationship Id="rId6" Type="http://schemas.openxmlformats.org/officeDocument/2006/relationships/hyperlink" Target="https://www.python.org/" TargetMode="External"/><Relationship Id="rId5" Type="http://schemas.openxmlformats.org/officeDocument/2006/relationships/hyperlink" Target="https://docs.python.org/3/library/collections.html" TargetMode="External"/><Relationship Id="rId4" Type="http://schemas.openxmlformats.org/officeDocument/2006/relationships/hyperlink" Target="https://scikit-learn.org/stable/modules/generated/sklearn.neighbors.KNeighborsClassifier.html" TargetMode="External"/><Relationship Id="rId9" Type="http://schemas.openxmlformats.org/officeDocument/2006/relationships/hyperlink" Target="https://www.w3schools.com/ai/ai_machine_learning.asp"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BFF87FD-5A47-4514-9D52-3E78A328860E}" type="doc">
      <dgm:prSet loTypeId="urn:diagrams.loki3.com/TabbedArc+Icon" loCatId="officeonline" qsTypeId="urn:microsoft.com/office/officeart/2005/8/quickstyle/3d3" qsCatId="3D" csTypeId="urn:microsoft.com/office/officeart/2005/8/colors/accent1_2" csCatId="accent1" phldr="1"/>
      <dgm:spPr/>
      <dgm:t>
        <a:bodyPr/>
        <a:lstStyle/>
        <a:p>
          <a:endParaRPr lang="en-US"/>
        </a:p>
      </dgm:t>
    </dgm:pt>
    <dgm:pt modelId="{FFC929A4-220A-42BA-979E-D65E2B0DA30F}" type="pres">
      <dgm:prSet presAssocID="{EBFF87FD-5A47-4514-9D52-3E78A328860E}" presName="Name0" presStyleCnt="0">
        <dgm:presLayoutVars>
          <dgm:dir/>
          <dgm:resizeHandles val="exact"/>
        </dgm:presLayoutVars>
      </dgm:prSet>
      <dgm:spPr/>
    </dgm:pt>
  </dgm:ptLst>
  <dgm:cxnLst>
    <dgm:cxn modelId="{4BE4FBB6-A02B-450B-BAC5-01B9FE1A935C}" type="presOf" srcId="{EBFF87FD-5A47-4514-9D52-3E78A328860E}" destId="{FFC929A4-220A-42BA-979E-D65E2B0DA30F}" srcOrd="0" destOrd="0" presId="urn:diagrams.loki3.com/TabbedArc+Icon"/>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F88B293-55B0-414C-A9B8-72B0FDA49A89}" type="doc">
      <dgm:prSet loTypeId="urn:microsoft.com/office/officeart/2008/layout/LinedList" loCatId="list" qsTypeId="urn:microsoft.com/office/officeart/2005/8/quickstyle/3d2" qsCatId="3D" csTypeId="urn:microsoft.com/office/officeart/2005/8/colors/accent0_3" csCatId="mainScheme" phldr="1"/>
      <dgm:spPr/>
      <dgm:t>
        <a:bodyPr/>
        <a:lstStyle/>
        <a:p>
          <a:endParaRPr lang="en-US"/>
        </a:p>
      </dgm:t>
    </dgm:pt>
    <dgm:pt modelId="{C7FFDAB2-417C-42D6-9F8F-54EE4D123B09}">
      <dgm:prSet phldrT="[Text]" phldr="0"/>
      <dgm:spPr/>
      <dgm:t>
        <a:bodyPr/>
        <a:lstStyle/>
        <a:p>
          <a:r>
            <a:rPr lang="en-US" dirty="0">
              <a:latin typeface="Bookman Old Style" panose="02050604050505020204" pitchFamily="18" charset="0"/>
              <a:cs typeface="2  Mitra_2 (MRT)" panose="00000700000000000000" pitchFamily="2" charset="-78"/>
            </a:rPr>
            <a:t>sources</a:t>
          </a:r>
        </a:p>
      </dgm:t>
    </dgm:pt>
    <dgm:pt modelId="{36A4A3D0-EB82-42A8-BB73-94277F961E19}" type="parTrans" cxnId="{B6F49928-B854-4664-8499-5218E9952262}">
      <dgm:prSet/>
      <dgm:spPr/>
      <dgm:t>
        <a:bodyPr/>
        <a:lstStyle/>
        <a:p>
          <a:endParaRPr lang="en-US"/>
        </a:p>
      </dgm:t>
    </dgm:pt>
    <dgm:pt modelId="{2488F801-FA64-4789-BA35-B3FADD117225}" type="sibTrans" cxnId="{B6F49928-B854-4664-8499-5218E9952262}">
      <dgm:prSet/>
      <dgm:spPr/>
      <dgm:t>
        <a:bodyPr/>
        <a:lstStyle/>
        <a:p>
          <a:endParaRPr lang="en-US"/>
        </a:p>
      </dgm:t>
    </dgm:pt>
    <dgm:pt modelId="{0C90C6F7-3A15-4F44-A1F4-57A40B680F7F}">
      <dgm:prSet phldrT="[Text]" phldr="0"/>
      <dgm:spPr/>
      <dgm:t>
        <a:bodyPr/>
        <a:lstStyle/>
        <a:p>
          <a:pPr rtl="0">
            <a:buNone/>
          </a:pPr>
          <a:r>
            <a:rPr lang="en-US" b="0" dirty="0">
              <a:hlinkClick xmlns:r="http://schemas.openxmlformats.org/officeDocument/2006/relationships" r:id="rId1"/>
            </a:rPr>
            <a:t>NumPy </a:t>
          </a:r>
          <a:endParaRPr lang="en-US" dirty="0"/>
        </a:p>
      </dgm:t>
    </dgm:pt>
    <dgm:pt modelId="{127D81C6-F32E-4A72-BDEA-BC42895A3328}" type="parTrans" cxnId="{13C8C17C-261F-4EE1-920E-F619E90FB1F0}">
      <dgm:prSet/>
      <dgm:spPr/>
      <dgm:t>
        <a:bodyPr/>
        <a:lstStyle/>
        <a:p>
          <a:endParaRPr lang="en-US"/>
        </a:p>
      </dgm:t>
    </dgm:pt>
    <dgm:pt modelId="{B287DA76-2F56-4E82-BFBB-7F67C2EF2A73}" type="sibTrans" cxnId="{13C8C17C-261F-4EE1-920E-F619E90FB1F0}">
      <dgm:prSet/>
      <dgm:spPr/>
      <dgm:t>
        <a:bodyPr/>
        <a:lstStyle/>
        <a:p>
          <a:endParaRPr lang="en-US"/>
        </a:p>
      </dgm:t>
    </dgm:pt>
    <dgm:pt modelId="{D6466886-6335-4E55-9A37-B5557B09EBCD}">
      <dgm:prSet phldrT="[Text]"/>
      <dgm:spPr/>
      <dgm:t>
        <a:bodyPr/>
        <a:lstStyle/>
        <a:p>
          <a:pPr>
            <a:buNone/>
          </a:pPr>
          <a:r>
            <a:rPr lang="en-US" b="0" dirty="0">
              <a:hlinkClick xmlns:r="http://schemas.openxmlformats.org/officeDocument/2006/relationships" r:id="rId2"/>
            </a:rPr>
            <a:t>matplotlib</a:t>
          </a:r>
          <a:endParaRPr lang="en-US" dirty="0"/>
        </a:p>
      </dgm:t>
    </dgm:pt>
    <dgm:pt modelId="{F3832034-2E9A-4280-9317-5CF309728AED}" type="parTrans" cxnId="{03AE0C49-6EBA-4BAB-8932-EA8AC92C6062}">
      <dgm:prSet/>
      <dgm:spPr/>
      <dgm:t>
        <a:bodyPr/>
        <a:lstStyle/>
        <a:p>
          <a:endParaRPr lang="en-US"/>
        </a:p>
      </dgm:t>
    </dgm:pt>
    <dgm:pt modelId="{3701C0A3-BD4D-47D7-B253-8001DD4A7468}" type="sibTrans" cxnId="{03AE0C49-6EBA-4BAB-8932-EA8AC92C6062}">
      <dgm:prSet/>
      <dgm:spPr/>
      <dgm:t>
        <a:bodyPr/>
        <a:lstStyle/>
        <a:p>
          <a:endParaRPr lang="en-US"/>
        </a:p>
      </dgm:t>
    </dgm:pt>
    <dgm:pt modelId="{E8615C5D-3322-43FD-8A1E-1C14D444E605}">
      <dgm:prSet phldrT="[Text]"/>
      <dgm:spPr/>
      <dgm:t>
        <a:bodyPr/>
        <a:lstStyle/>
        <a:p>
          <a:pPr>
            <a:buNone/>
          </a:pPr>
          <a:r>
            <a:rPr lang="en-US" b="0" dirty="0">
              <a:hlinkClick xmlns:r="http://schemas.openxmlformats.org/officeDocument/2006/relationships" r:id="rId3"/>
            </a:rPr>
            <a:t>Sklearn(datasets)</a:t>
          </a:r>
          <a:endParaRPr lang="en-US" dirty="0"/>
        </a:p>
      </dgm:t>
    </dgm:pt>
    <dgm:pt modelId="{4FAC3B09-7697-4AAF-9416-9C8A89001F31}" type="parTrans" cxnId="{58024166-E220-4446-A669-7FECFBD01DEB}">
      <dgm:prSet/>
      <dgm:spPr/>
      <dgm:t>
        <a:bodyPr/>
        <a:lstStyle/>
        <a:p>
          <a:endParaRPr lang="en-US"/>
        </a:p>
      </dgm:t>
    </dgm:pt>
    <dgm:pt modelId="{BAA83B8C-31A4-459A-BE8E-5D9263FD23B4}" type="sibTrans" cxnId="{58024166-E220-4446-A669-7FECFBD01DEB}">
      <dgm:prSet/>
      <dgm:spPr/>
      <dgm:t>
        <a:bodyPr/>
        <a:lstStyle/>
        <a:p>
          <a:endParaRPr lang="en-US"/>
        </a:p>
      </dgm:t>
    </dgm:pt>
    <dgm:pt modelId="{AC221566-5BA0-4B70-B194-38AA230C72A6}">
      <dgm:prSet phldrT="[Text]"/>
      <dgm:spPr/>
      <dgm:t>
        <a:bodyPr/>
        <a:lstStyle/>
        <a:p>
          <a:pPr>
            <a:buNone/>
          </a:pPr>
          <a:r>
            <a:rPr lang="en-US" b="0" dirty="0">
              <a:hlinkClick xmlns:r="http://schemas.openxmlformats.org/officeDocument/2006/relationships" r:id="rId4"/>
            </a:rPr>
            <a:t>Sklearn_neighbors(KNN)</a:t>
          </a:r>
          <a:endParaRPr lang="en-US" dirty="0"/>
        </a:p>
      </dgm:t>
    </dgm:pt>
    <dgm:pt modelId="{35FAD7C7-E7B9-4A9B-BCC2-3FF42502F284}" type="parTrans" cxnId="{6949BD66-DA20-45B7-AB7D-989092808597}">
      <dgm:prSet/>
      <dgm:spPr/>
      <dgm:t>
        <a:bodyPr/>
        <a:lstStyle/>
        <a:p>
          <a:endParaRPr lang="en-US"/>
        </a:p>
      </dgm:t>
    </dgm:pt>
    <dgm:pt modelId="{8B2DBB4A-7155-49E9-8042-0CA9C66FF10B}" type="sibTrans" cxnId="{6949BD66-DA20-45B7-AB7D-989092808597}">
      <dgm:prSet/>
      <dgm:spPr/>
      <dgm:t>
        <a:bodyPr/>
        <a:lstStyle/>
        <a:p>
          <a:endParaRPr lang="en-US"/>
        </a:p>
      </dgm:t>
    </dgm:pt>
    <dgm:pt modelId="{D7F5BFEA-B5C3-4E5B-A63F-A03019A6AF7E}">
      <dgm:prSet phldrT="[Text]"/>
      <dgm:spPr/>
      <dgm:t>
        <a:bodyPr/>
        <a:lstStyle/>
        <a:p>
          <a:pPr>
            <a:buNone/>
          </a:pPr>
          <a:r>
            <a:rPr lang="en-US" b="0" dirty="0">
              <a:hlinkClick xmlns:r="http://schemas.openxmlformats.org/officeDocument/2006/relationships" r:id="rId5"/>
            </a:rPr>
            <a:t>Collections </a:t>
          </a:r>
          <a:endParaRPr lang="en-US" dirty="0"/>
        </a:p>
      </dgm:t>
    </dgm:pt>
    <dgm:pt modelId="{9A72038C-078A-4677-8D71-1C83C47D3DB1}" type="parTrans" cxnId="{CEC366CD-98AB-485B-95EC-89D999E632A2}">
      <dgm:prSet/>
      <dgm:spPr/>
      <dgm:t>
        <a:bodyPr/>
        <a:lstStyle/>
        <a:p>
          <a:endParaRPr lang="en-US"/>
        </a:p>
      </dgm:t>
    </dgm:pt>
    <dgm:pt modelId="{547E6930-39B2-4C23-AB52-6204F5A688F7}" type="sibTrans" cxnId="{CEC366CD-98AB-485B-95EC-89D999E632A2}">
      <dgm:prSet/>
      <dgm:spPr/>
      <dgm:t>
        <a:bodyPr/>
        <a:lstStyle/>
        <a:p>
          <a:endParaRPr lang="en-US"/>
        </a:p>
      </dgm:t>
    </dgm:pt>
    <dgm:pt modelId="{D9AB24AD-C032-4CCE-85E2-5267ECE8405B}">
      <dgm:prSet phldrT="[Text]"/>
      <dgm:spPr/>
      <dgm:t>
        <a:bodyPr/>
        <a:lstStyle/>
        <a:p>
          <a:pPr>
            <a:buNone/>
          </a:pPr>
          <a:r>
            <a:rPr lang="en-US" dirty="0">
              <a:hlinkClick xmlns:r="http://schemas.openxmlformats.org/officeDocument/2006/relationships" r:id="rId6"/>
            </a:rPr>
            <a:t>Python</a:t>
          </a:r>
          <a:endParaRPr lang="en-US" dirty="0"/>
        </a:p>
      </dgm:t>
    </dgm:pt>
    <dgm:pt modelId="{B36164BC-7EB4-4CCA-99CB-C494202A74A0}" type="parTrans" cxnId="{B778D45E-4817-476A-A19F-0645582BAC4F}">
      <dgm:prSet/>
      <dgm:spPr/>
      <dgm:t>
        <a:bodyPr/>
        <a:lstStyle/>
        <a:p>
          <a:endParaRPr lang="en-US"/>
        </a:p>
      </dgm:t>
    </dgm:pt>
    <dgm:pt modelId="{32BC5517-DB3E-4A42-B78C-3D7EBB880128}" type="sibTrans" cxnId="{B778D45E-4817-476A-A19F-0645582BAC4F}">
      <dgm:prSet/>
      <dgm:spPr/>
      <dgm:t>
        <a:bodyPr/>
        <a:lstStyle/>
        <a:p>
          <a:endParaRPr lang="en-US"/>
        </a:p>
      </dgm:t>
    </dgm:pt>
    <dgm:pt modelId="{CFCF473E-1DFA-4473-9EA4-B20DDCAEE765}">
      <dgm:prSet phldrT="[Text]"/>
      <dgm:spPr/>
      <dgm:t>
        <a:bodyPr/>
        <a:lstStyle/>
        <a:p>
          <a:pPr>
            <a:buNone/>
          </a:pPr>
          <a:r>
            <a:rPr lang="en-US" dirty="0">
              <a:hlinkClick xmlns:r="http://schemas.openxmlformats.org/officeDocument/2006/relationships" r:id="rId7"/>
            </a:rPr>
            <a:t>Faradars</a:t>
          </a:r>
          <a:endParaRPr lang="en-US" dirty="0"/>
        </a:p>
      </dgm:t>
    </dgm:pt>
    <dgm:pt modelId="{52E6AAEC-342F-4BF1-8FA7-F45A3D319ECE}" type="parTrans" cxnId="{83461E38-6971-4E94-873F-67C0401C9E04}">
      <dgm:prSet/>
      <dgm:spPr/>
      <dgm:t>
        <a:bodyPr/>
        <a:lstStyle/>
        <a:p>
          <a:endParaRPr lang="en-US"/>
        </a:p>
      </dgm:t>
    </dgm:pt>
    <dgm:pt modelId="{A5D91D96-B39D-4A14-B2B1-12AC5C13CD41}" type="sibTrans" cxnId="{83461E38-6971-4E94-873F-67C0401C9E04}">
      <dgm:prSet/>
      <dgm:spPr/>
      <dgm:t>
        <a:bodyPr/>
        <a:lstStyle/>
        <a:p>
          <a:endParaRPr lang="en-US"/>
        </a:p>
      </dgm:t>
    </dgm:pt>
    <dgm:pt modelId="{711F19CE-80F0-4765-B6DB-DBCEEE81C72F}">
      <dgm:prSet phldrT="[Text]"/>
      <dgm:spPr/>
      <dgm:t>
        <a:bodyPr/>
        <a:lstStyle/>
        <a:p>
          <a:pPr>
            <a:buNone/>
          </a:pPr>
          <a:r>
            <a:rPr lang="en-US" dirty="0">
              <a:hlinkClick xmlns:r="http://schemas.openxmlformats.org/officeDocument/2006/relationships" r:id="rId8"/>
            </a:rPr>
            <a:t>DeepSeek</a:t>
          </a:r>
          <a:endParaRPr lang="en-US" dirty="0"/>
        </a:p>
      </dgm:t>
    </dgm:pt>
    <dgm:pt modelId="{63431DAF-F048-4AAB-A137-0F358A197893}" type="parTrans" cxnId="{3588D7E1-0E3F-4302-9321-0FFD4048BE71}">
      <dgm:prSet/>
      <dgm:spPr/>
      <dgm:t>
        <a:bodyPr/>
        <a:lstStyle/>
        <a:p>
          <a:endParaRPr lang="en-US"/>
        </a:p>
      </dgm:t>
    </dgm:pt>
    <dgm:pt modelId="{787AA030-1358-4D35-97BC-A87B2549853C}" type="sibTrans" cxnId="{3588D7E1-0E3F-4302-9321-0FFD4048BE71}">
      <dgm:prSet/>
      <dgm:spPr/>
      <dgm:t>
        <a:bodyPr/>
        <a:lstStyle/>
        <a:p>
          <a:endParaRPr lang="en-US"/>
        </a:p>
      </dgm:t>
    </dgm:pt>
    <dgm:pt modelId="{9CEDE4E3-DA35-4767-B9BD-4EECEBD9FE8C}">
      <dgm:prSet phldrT="[Text]"/>
      <dgm:spPr/>
      <dgm:t>
        <a:bodyPr/>
        <a:lstStyle/>
        <a:p>
          <a:pPr>
            <a:buNone/>
          </a:pPr>
          <a:r>
            <a:rPr lang="en-US" dirty="0">
              <a:hlinkClick xmlns:r="http://schemas.openxmlformats.org/officeDocument/2006/relationships" r:id="rId9"/>
            </a:rPr>
            <a:t>W2school</a:t>
          </a:r>
          <a:endParaRPr lang="en-US" dirty="0"/>
        </a:p>
      </dgm:t>
    </dgm:pt>
    <dgm:pt modelId="{40B51CEB-97AD-4047-B622-899D980770B1}" type="parTrans" cxnId="{8413937D-29CB-4225-819F-33E0CCAADC2F}">
      <dgm:prSet/>
      <dgm:spPr/>
      <dgm:t>
        <a:bodyPr/>
        <a:lstStyle/>
        <a:p>
          <a:endParaRPr lang="en-US"/>
        </a:p>
      </dgm:t>
    </dgm:pt>
    <dgm:pt modelId="{08DE9203-2146-4202-9A3D-14E0C99DED57}" type="sibTrans" cxnId="{8413937D-29CB-4225-819F-33E0CCAADC2F}">
      <dgm:prSet/>
      <dgm:spPr/>
      <dgm:t>
        <a:bodyPr/>
        <a:lstStyle/>
        <a:p>
          <a:endParaRPr lang="en-US"/>
        </a:p>
      </dgm:t>
    </dgm:pt>
    <dgm:pt modelId="{A7351267-618D-4223-9658-D420AEE159E8}">
      <dgm:prSet phldrT="[Text]"/>
      <dgm:spPr/>
      <dgm:t>
        <a:bodyPr/>
        <a:lstStyle/>
        <a:p>
          <a:pPr>
            <a:buNone/>
          </a:pPr>
          <a:r>
            <a:rPr lang="en-US" dirty="0"/>
            <a:t>GitHub : Hatef-skywalker007</a:t>
          </a:r>
        </a:p>
      </dgm:t>
    </dgm:pt>
    <dgm:pt modelId="{1632A189-61C6-4CC3-91C7-432E7A3A27FC}" type="parTrans" cxnId="{918F3D79-C92B-4C8F-B8D9-1610A6697C03}">
      <dgm:prSet/>
      <dgm:spPr/>
      <dgm:t>
        <a:bodyPr/>
        <a:lstStyle/>
        <a:p>
          <a:endParaRPr lang="en-US"/>
        </a:p>
      </dgm:t>
    </dgm:pt>
    <dgm:pt modelId="{EC5E58DA-A3CE-4859-A1B4-7DA72E7EC06F}" type="sibTrans" cxnId="{918F3D79-C92B-4C8F-B8D9-1610A6697C03}">
      <dgm:prSet/>
      <dgm:spPr/>
      <dgm:t>
        <a:bodyPr/>
        <a:lstStyle/>
        <a:p>
          <a:endParaRPr lang="en-US"/>
        </a:p>
      </dgm:t>
    </dgm:pt>
    <dgm:pt modelId="{8B4F7D0B-C521-42F7-9EFF-D18A4F2CFECD}" type="pres">
      <dgm:prSet presAssocID="{5F88B293-55B0-414C-A9B8-72B0FDA49A89}" presName="vert0" presStyleCnt="0">
        <dgm:presLayoutVars>
          <dgm:dir/>
          <dgm:animOne val="branch"/>
          <dgm:animLvl val="lvl"/>
        </dgm:presLayoutVars>
      </dgm:prSet>
      <dgm:spPr/>
    </dgm:pt>
    <dgm:pt modelId="{10AFC4A1-9222-46C4-8990-F797CB9CD696}" type="pres">
      <dgm:prSet presAssocID="{C7FFDAB2-417C-42D6-9F8F-54EE4D123B09}" presName="thickLine" presStyleLbl="alignNode1" presStyleIdx="0" presStyleCnt="1"/>
      <dgm:spPr/>
    </dgm:pt>
    <dgm:pt modelId="{A88DF8EA-3AB5-4107-9A44-EF4735C41200}" type="pres">
      <dgm:prSet presAssocID="{C7FFDAB2-417C-42D6-9F8F-54EE4D123B09}" presName="horz1" presStyleCnt="0"/>
      <dgm:spPr/>
    </dgm:pt>
    <dgm:pt modelId="{7EFC8E01-A635-4C38-8459-D763B0832A4E}" type="pres">
      <dgm:prSet presAssocID="{C7FFDAB2-417C-42D6-9F8F-54EE4D123B09}" presName="tx1" presStyleLbl="revTx" presStyleIdx="0" presStyleCnt="11"/>
      <dgm:spPr/>
    </dgm:pt>
    <dgm:pt modelId="{33971E58-D1E8-432F-BF35-F36943D02BC0}" type="pres">
      <dgm:prSet presAssocID="{C7FFDAB2-417C-42D6-9F8F-54EE4D123B09}" presName="vert1" presStyleCnt="0"/>
      <dgm:spPr/>
    </dgm:pt>
    <dgm:pt modelId="{4AD2CDBC-2F7E-474F-8826-E3991831FE78}" type="pres">
      <dgm:prSet presAssocID="{0C90C6F7-3A15-4F44-A1F4-57A40B680F7F}" presName="vertSpace2a" presStyleCnt="0"/>
      <dgm:spPr/>
    </dgm:pt>
    <dgm:pt modelId="{0D0CB1D3-AC31-49DE-A963-AEF7189BAFE2}" type="pres">
      <dgm:prSet presAssocID="{0C90C6F7-3A15-4F44-A1F4-57A40B680F7F}" presName="horz2" presStyleCnt="0"/>
      <dgm:spPr/>
    </dgm:pt>
    <dgm:pt modelId="{B18C81F3-F6F4-44AC-B0D6-D037D7F4E35C}" type="pres">
      <dgm:prSet presAssocID="{0C90C6F7-3A15-4F44-A1F4-57A40B680F7F}" presName="horzSpace2" presStyleCnt="0"/>
      <dgm:spPr/>
    </dgm:pt>
    <dgm:pt modelId="{CB8FFE0F-C44D-44E0-A675-B7A8B6207C65}" type="pres">
      <dgm:prSet presAssocID="{0C90C6F7-3A15-4F44-A1F4-57A40B680F7F}" presName="tx2" presStyleLbl="revTx" presStyleIdx="1" presStyleCnt="11"/>
      <dgm:spPr/>
    </dgm:pt>
    <dgm:pt modelId="{FED9613C-EBCC-4897-BFAF-AFFC2BC8543F}" type="pres">
      <dgm:prSet presAssocID="{0C90C6F7-3A15-4F44-A1F4-57A40B680F7F}" presName="vert2" presStyleCnt="0"/>
      <dgm:spPr/>
    </dgm:pt>
    <dgm:pt modelId="{9FB7D236-7B4A-446B-93D7-430B7B62F49C}" type="pres">
      <dgm:prSet presAssocID="{0C90C6F7-3A15-4F44-A1F4-57A40B680F7F}" presName="thinLine2b" presStyleLbl="callout" presStyleIdx="0" presStyleCnt="10"/>
      <dgm:spPr/>
    </dgm:pt>
    <dgm:pt modelId="{E7EF6EED-FB47-4A4A-A5A4-E2CFA093E7E3}" type="pres">
      <dgm:prSet presAssocID="{0C90C6F7-3A15-4F44-A1F4-57A40B680F7F}" presName="vertSpace2b" presStyleCnt="0"/>
      <dgm:spPr/>
    </dgm:pt>
    <dgm:pt modelId="{D4673F1F-FABD-4D5C-9750-07A2CE90B96F}" type="pres">
      <dgm:prSet presAssocID="{D6466886-6335-4E55-9A37-B5557B09EBCD}" presName="horz2" presStyleCnt="0"/>
      <dgm:spPr/>
    </dgm:pt>
    <dgm:pt modelId="{C654C8A4-69A5-4E7A-8E36-97048907CAE1}" type="pres">
      <dgm:prSet presAssocID="{D6466886-6335-4E55-9A37-B5557B09EBCD}" presName="horzSpace2" presStyleCnt="0"/>
      <dgm:spPr/>
    </dgm:pt>
    <dgm:pt modelId="{9F1CF78E-D5F7-45DA-B66E-8DA33C105414}" type="pres">
      <dgm:prSet presAssocID="{D6466886-6335-4E55-9A37-B5557B09EBCD}" presName="tx2" presStyleLbl="revTx" presStyleIdx="2" presStyleCnt="11"/>
      <dgm:spPr/>
    </dgm:pt>
    <dgm:pt modelId="{7B28C070-BA65-4AB2-84A2-93C5E8F74A96}" type="pres">
      <dgm:prSet presAssocID="{D6466886-6335-4E55-9A37-B5557B09EBCD}" presName="vert2" presStyleCnt="0"/>
      <dgm:spPr/>
    </dgm:pt>
    <dgm:pt modelId="{F42286F5-71AE-4491-8A02-CE9357888C27}" type="pres">
      <dgm:prSet presAssocID="{D6466886-6335-4E55-9A37-B5557B09EBCD}" presName="thinLine2b" presStyleLbl="callout" presStyleIdx="1" presStyleCnt="10"/>
      <dgm:spPr/>
    </dgm:pt>
    <dgm:pt modelId="{3F9B95E9-A025-41CB-B02A-FC07CFB2329A}" type="pres">
      <dgm:prSet presAssocID="{D6466886-6335-4E55-9A37-B5557B09EBCD}" presName="vertSpace2b" presStyleCnt="0"/>
      <dgm:spPr/>
    </dgm:pt>
    <dgm:pt modelId="{D659BDDD-A96A-4F08-8339-8194EA2B390F}" type="pres">
      <dgm:prSet presAssocID="{E8615C5D-3322-43FD-8A1E-1C14D444E605}" presName="horz2" presStyleCnt="0"/>
      <dgm:spPr/>
    </dgm:pt>
    <dgm:pt modelId="{D701CDEE-8E56-41F4-BAF8-6C49F7EE065A}" type="pres">
      <dgm:prSet presAssocID="{E8615C5D-3322-43FD-8A1E-1C14D444E605}" presName="horzSpace2" presStyleCnt="0"/>
      <dgm:spPr/>
    </dgm:pt>
    <dgm:pt modelId="{53E5C0D8-4CCD-42D5-902E-EDAB54807963}" type="pres">
      <dgm:prSet presAssocID="{E8615C5D-3322-43FD-8A1E-1C14D444E605}" presName="tx2" presStyleLbl="revTx" presStyleIdx="3" presStyleCnt="11"/>
      <dgm:spPr/>
    </dgm:pt>
    <dgm:pt modelId="{ECF7F73E-0918-4595-A7E7-4D6C790CB4FA}" type="pres">
      <dgm:prSet presAssocID="{E8615C5D-3322-43FD-8A1E-1C14D444E605}" presName="vert2" presStyleCnt="0"/>
      <dgm:spPr/>
    </dgm:pt>
    <dgm:pt modelId="{520D172D-E5D7-4DDF-92C9-B398EB7E8916}" type="pres">
      <dgm:prSet presAssocID="{E8615C5D-3322-43FD-8A1E-1C14D444E605}" presName="thinLine2b" presStyleLbl="callout" presStyleIdx="2" presStyleCnt="10"/>
      <dgm:spPr/>
    </dgm:pt>
    <dgm:pt modelId="{B46DDD4A-0C4E-4225-A4B8-3B5CC4AE67CF}" type="pres">
      <dgm:prSet presAssocID="{E8615C5D-3322-43FD-8A1E-1C14D444E605}" presName="vertSpace2b" presStyleCnt="0"/>
      <dgm:spPr/>
    </dgm:pt>
    <dgm:pt modelId="{696E2DE5-2989-4901-9C90-23B03A468C1F}" type="pres">
      <dgm:prSet presAssocID="{AC221566-5BA0-4B70-B194-38AA230C72A6}" presName="horz2" presStyleCnt="0"/>
      <dgm:spPr/>
    </dgm:pt>
    <dgm:pt modelId="{234BC159-77F3-481B-BA02-B2AD0853E6CF}" type="pres">
      <dgm:prSet presAssocID="{AC221566-5BA0-4B70-B194-38AA230C72A6}" presName="horzSpace2" presStyleCnt="0"/>
      <dgm:spPr/>
    </dgm:pt>
    <dgm:pt modelId="{9D356C7B-2E1E-4753-891D-AD8E049D3D2A}" type="pres">
      <dgm:prSet presAssocID="{AC221566-5BA0-4B70-B194-38AA230C72A6}" presName="tx2" presStyleLbl="revTx" presStyleIdx="4" presStyleCnt="11"/>
      <dgm:spPr/>
    </dgm:pt>
    <dgm:pt modelId="{CC517C28-B678-4231-92D8-2AAD61E11035}" type="pres">
      <dgm:prSet presAssocID="{AC221566-5BA0-4B70-B194-38AA230C72A6}" presName="vert2" presStyleCnt="0"/>
      <dgm:spPr/>
    </dgm:pt>
    <dgm:pt modelId="{27DFD917-5C8D-4E56-8F03-300EFB3B94D4}" type="pres">
      <dgm:prSet presAssocID="{AC221566-5BA0-4B70-B194-38AA230C72A6}" presName="thinLine2b" presStyleLbl="callout" presStyleIdx="3" presStyleCnt="10"/>
      <dgm:spPr/>
    </dgm:pt>
    <dgm:pt modelId="{D7605068-2AF5-46E6-8D38-4188757EC822}" type="pres">
      <dgm:prSet presAssocID="{AC221566-5BA0-4B70-B194-38AA230C72A6}" presName="vertSpace2b" presStyleCnt="0"/>
      <dgm:spPr/>
    </dgm:pt>
    <dgm:pt modelId="{B0D20DD8-6BDE-4859-80B0-5C2525C60925}" type="pres">
      <dgm:prSet presAssocID="{D7F5BFEA-B5C3-4E5B-A63F-A03019A6AF7E}" presName="horz2" presStyleCnt="0"/>
      <dgm:spPr/>
    </dgm:pt>
    <dgm:pt modelId="{6C7CE588-827C-463A-A418-5E523981566A}" type="pres">
      <dgm:prSet presAssocID="{D7F5BFEA-B5C3-4E5B-A63F-A03019A6AF7E}" presName="horzSpace2" presStyleCnt="0"/>
      <dgm:spPr/>
    </dgm:pt>
    <dgm:pt modelId="{94EACA60-22B6-4CB1-892D-50EC4E38866C}" type="pres">
      <dgm:prSet presAssocID="{D7F5BFEA-B5C3-4E5B-A63F-A03019A6AF7E}" presName="tx2" presStyleLbl="revTx" presStyleIdx="5" presStyleCnt="11"/>
      <dgm:spPr/>
    </dgm:pt>
    <dgm:pt modelId="{86312BA7-FE91-4815-B6DF-25C618E872F7}" type="pres">
      <dgm:prSet presAssocID="{D7F5BFEA-B5C3-4E5B-A63F-A03019A6AF7E}" presName="vert2" presStyleCnt="0"/>
      <dgm:spPr/>
    </dgm:pt>
    <dgm:pt modelId="{FCA5746B-B197-4285-8A78-677EEF54267A}" type="pres">
      <dgm:prSet presAssocID="{D7F5BFEA-B5C3-4E5B-A63F-A03019A6AF7E}" presName="thinLine2b" presStyleLbl="callout" presStyleIdx="4" presStyleCnt="10"/>
      <dgm:spPr/>
    </dgm:pt>
    <dgm:pt modelId="{BAC228AC-3545-4B7A-9532-99176FC01F72}" type="pres">
      <dgm:prSet presAssocID="{D7F5BFEA-B5C3-4E5B-A63F-A03019A6AF7E}" presName="vertSpace2b" presStyleCnt="0"/>
      <dgm:spPr/>
    </dgm:pt>
    <dgm:pt modelId="{4AF73DB3-CAE1-4BB2-94DE-F63406CA29D9}" type="pres">
      <dgm:prSet presAssocID="{D9AB24AD-C032-4CCE-85E2-5267ECE8405B}" presName="horz2" presStyleCnt="0"/>
      <dgm:spPr/>
    </dgm:pt>
    <dgm:pt modelId="{3C810529-1A13-40D3-9118-8B9BC8074A5F}" type="pres">
      <dgm:prSet presAssocID="{D9AB24AD-C032-4CCE-85E2-5267ECE8405B}" presName="horzSpace2" presStyleCnt="0"/>
      <dgm:spPr/>
    </dgm:pt>
    <dgm:pt modelId="{D0066551-C350-4C89-9BBF-B8D0AF6725DC}" type="pres">
      <dgm:prSet presAssocID="{D9AB24AD-C032-4CCE-85E2-5267ECE8405B}" presName="tx2" presStyleLbl="revTx" presStyleIdx="6" presStyleCnt="11"/>
      <dgm:spPr/>
    </dgm:pt>
    <dgm:pt modelId="{1F4FAC85-57FF-44AE-A77D-6255F61A4247}" type="pres">
      <dgm:prSet presAssocID="{D9AB24AD-C032-4CCE-85E2-5267ECE8405B}" presName="vert2" presStyleCnt="0"/>
      <dgm:spPr/>
    </dgm:pt>
    <dgm:pt modelId="{42F7A6CA-B5F0-4F76-B05C-541760FC8B78}" type="pres">
      <dgm:prSet presAssocID="{D9AB24AD-C032-4CCE-85E2-5267ECE8405B}" presName="thinLine2b" presStyleLbl="callout" presStyleIdx="5" presStyleCnt="10"/>
      <dgm:spPr/>
    </dgm:pt>
    <dgm:pt modelId="{5F9C8F25-76C5-4534-9255-0E3177345C1F}" type="pres">
      <dgm:prSet presAssocID="{D9AB24AD-C032-4CCE-85E2-5267ECE8405B}" presName="vertSpace2b" presStyleCnt="0"/>
      <dgm:spPr/>
    </dgm:pt>
    <dgm:pt modelId="{4A8B53DE-3603-46A7-AC19-26F413283B06}" type="pres">
      <dgm:prSet presAssocID="{CFCF473E-1DFA-4473-9EA4-B20DDCAEE765}" presName="horz2" presStyleCnt="0"/>
      <dgm:spPr/>
    </dgm:pt>
    <dgm:pt modelId="{8CB4BAEB-8693-4808-9F95-0DB8667302A2}" type="pres">
      <dgm:prSet presAssocID="{CFCF473E-1DFA-4473-9EA4-B20DDCAEE765}" presName="horzSpace2" presStyleCnt="0"/>
      <dgm:spPr/>
    </dgm:pt>
    <dgm:pt modelId="{6D02FEA0-4C36-44E7-8DC0-96F83384679C}" type="pres">
      <dgm:prSet presAssocID="{CFCF473E-1DFA-4473-9EA4-B20DDCAEE765}" presName="tx2" presStyleLbl="revTx" presStyleIdx="7" presStyleCnt="11"/>
      <dgm:spPr/>
    </dgm:pt>
    <dgm:pt modelId="{BC95E05A-EFD2-4BFD-BABB-E8048D152452}" type="pres">
      <dgm:prSet presAssocID="{CFCF473E-1DFA-4473-9EA4-B20DDCAEE765}" presName="vert2" presStyleCnt="0"/>
      <dgm:spPr/>
    </dgm:pt>
    <dgm:pt modelId="{2CB2F0A3-44C2-43CD-B100-CA949B993958}" type="pres">
      <dgm:prSet presAssocID="{CFCF473E-1DFA-4473-9EA4-B20DDCAEE765}" presName="thinLine2b" presStyleLbl="callout" presStyleIdx="6" presStyleCnt="10"/>
      <dgm:spPr/>
    </dgm:pt>
    <dgm:pt modelId="{DE12DEC4-96B2-40F7-A2FD-C9B6C047FFAE}" type="pres">
      <dgm:prSet presAssocID="{CFCF473E-1DFA-4473-9EA4-B20DDCAEE765}" presName="vertSpace2b" presStyleCnt="0"/>
      <dgm:spPr/>
    </dgm:pt>
    <dgm:pt modelId="{62D7C75F-74B4-48F8-8D60-E16064A95854}" type="pres">
      <dgm:prSet presAssocID="{711F19CE-80F0-4765-B6DB-DBCEEE81C72F}" presName="horz2" presStyleCnt="0"/>
      <dgm:spPr/>
    </dgm:pt>
    <dgm:pt modelId="{30AE5136-0D46-48B4-ABA9-E9448B1F97DB}" type="pres">
      <dgm:prSet presAssocID="{711F19CE-80F0-4765-B6DB-DBCEEE81C72F}" presName="horzSpace2" presStyleCnt="0"/>
      <dgm:spPr/>
    </dgm:pt>
    <dgm:pt modelId="{33BB4316-9A6D-478D-8DF6-FC31BD50A475}" type="pres">
      <dgm:prSet presAssocID="{711F19CE-80F0-4765-B6DB-DBCEEE81C72F}" presName="tx2" presStyleLbl="revTx" presStyleIdx="8" presStyleCnt="11"/>
      <dgm:spPr/>
    </dgm:pt>
    <dgm:pt modelId="{B24395A1-E4E7-4047-95AA-12D0FFEBFB74}" type="pres">
      <dgm:prSet presAssocID="{711F19CE-80F0-4765-B6DB-DBCEEE81C72F}" presName="vert2" presStyleCnt="0"/>
      <dgm:spPr/>
    </dgm:pt>
    <dgm:pt modelId="{A9A4F1D3-21DF-47A1-8008-40E1C099430A}" type="pres">
      <dgm:prSet presAssocID="{711F19CE-80F0-4765-B6DB-DBCEEE81C72F}" presName="thinLine2b" presStyleLbl="callout" presStyleIdx="7" presStyleCnt="10"/>
      <dgm:spPr/>
    </dgm:pt>
    <dgm:pt modelId="{26BFBF4A-5D2E-4BEB-86F0-C1E410B771ED}" type="pres">
      <dgm:prSet presAssocID="{711F19CE-80F0-4765-B6DB-DBCEEE81C72F}" presName="vertSpace2b" presStyleCnt="0"/>
      <dgm:spPr/>
    </dgm:pt>
    <dgm:pt modelId="{B381B36D-5548-41BD-9692-1044B04BC7C2}" type="pres">
      <dgm:prSet presAssocID="{9CEDE4E3-DA35-4767-B9BD-4EECEBD9FE8C}" presName="horz2" presStyleCnt="0"/>
      <dgm:spPr/>
    </dgm:pt>
    <dgm:pt modelId="{EF060F0C-8DEC-48CE-A523-D1A22A085DF3}" type="pres">
      <dgm:prSet presAssocID="{9CEDE4E3-DA35-4767-B9BD-4EECEBD9FE8C}" presName="horzSpace2" presStyleCnt="0"/>
      <dgm:spPr/>
    </dgm:pt>
    <dgm:pt modelId="{AF76B327-4896-4E5A-956C-A886F229F684}" type="pres">
      <dgm:prSet presAssocID="{9CEDE4E3-DA35-4767-B9BD-4EECEBD9FE8C}" presName="tx2" presStyleLbl="revTx" presStyleIdx="9" presStyleCnt="11"/>
      <dgm:spPr/>
    </dgm:pt>
    <dgm:pt modelId="{D5A89628-468D-47E6-9BF2-5758B498A7D2}" type="pres">
      <dgm:prSet presAssocID="{9CEDE4E3-DA35-4767-B9BD-4EECEBD9FE8C}" presName="vert2" presStyleCnt="0"/>
      <dgm:spPr/>
    </dgm:pt>
    <dgm:pt modelId="{A0DB921B-2BD6-4B04-B1DB-3F1C34D5A8B5}" type="pres">
      <dgm:prSet presAssocID="{9CEDE4E3-DA35-4767-B9BD-4EECEBD9FE8C}" presName="thinLine2b" presStyleLbl="callout" presStyleIdx="8" presStyleCnt="10"/>
      <dgm:spPr/>
    </dgm:pt>
    <dgm:pt modelId="{127DB6C3-58BC-4B0E-BAF8-622581AE5A7A}" type="pres">
      <dgm:prSet presAssocID="{9CEDE4E3-DA35-4767-B9BD-4EECEBD9FE8C}" presName="vertSpace2b" presStyleCnt="0"/>
      <dgm:spPr/>
    </dgm:pt>
    <dgm:pt modelId="{950A8B10-7CEF-40B3-81FA-E515922E5991}" type="pres">
      <dgm:prSet presAssocID="{A7351267-618D-4223-9658-D420AEE159E8}" presName="horz2" presStyleCnt="0"/>
      <dgm:spPr/>
    </dgm:pt>
    <dgm:pt modelId="{87611B3B-6338-4F52-9D7D-962E2D6724E8}" type="pres">
      <dgm:prSet presAssocID="{A7351267-618D-4223-9658-D420AEE159E8}" presName="horzSpace2" presStyleCnt="0"/>
      <dgm:spPr/>
    </dgm:pt>
    <dgm:pt modelId="{0674F587-7DB3-4C4E-9C38-4363DB34D3FB}" type="pres">
      <dgm:prSet presAssocID="{A7351267-618D-4223-9658-D420AEE159E8}" presName="tx2" presStyleLbl="revTx" presStyleIdx="10" presStyleCnt="11"/>
      <dgm:spPr/>
    </dgm:pt>
    <dgm:pt modelId="{02390569-6831-45BC-BFF5-70CC6C6D32BE}" type="pres">
      <dgm:prSet presAssocID="{A7351267-618D-4223-9658-D420AEE159E8}" presName="vert2" presStyleCnt="0"/>
      <dgm:spPr/>
    </dgm:pt>
    <dgm:pt modelId="{CAC564DD-3B5C-4E53-BD79-247D2FC1CA14}" type="pres">
      <dgm:prSet presAssocID="{A7351267-618D-4223-9658-D420AEE159E8}" presName="thinLine2b" presStyleLbl="callout" presStyleIdx="9" presStyleCnt="10"/>
      <dgm:spPr/>
    </dgm:pt>
    <dgm:pt modelId="{3A012EBF-0609-4F9A-AF68-946355F2A452}" type="pres">
      <dgm:prSet presAssocID="{A7351267-618D-4223-9658-D420AEE159E8}" presName="vertSpace2b" presStyleCnt="0"/>
      <dgm:spPr/>
    </dgm:pt>
  </dgm:ptLst>
  <dgm:cxnLst>
    <dgm:cxn modelId="{DD279F0E-B3BA-4C07-B9DD-BFC7E76CE490}" type="presOf" srcId="{CFCF473E-1DFA-4473-9EA4-B20DDCAEE765}" destId="{6D02FEA0-4C36-44E7-8DC0-96F83384679C}" srcOrd="0" destOrd="0" presId="urn:microsoft.com/office/officeart/2008/layout/LinedList"/>
    <dgm:cxn modelId="{88F6D010-A124-40A5-B882-38F392EB596C}" type="presOf" srcId="{711F19CE-80F0-4765-B6DB-DBCEEE81C72F}" destId="{33BB4316-9A6D-478D-8DF6-FC31BD50A475}" srcOrd="0" destOrd="0" presId="urn:microsoft.com/office/officeart/2008/layout/LinedList"/>
    <dgm:cxn modelId="{554BB023-E072-4618-A853-829146892F49}" type="presOf" srcId="{AC221566-5BA0-4B70-B194-38AA230C72A6}" destId="{9D356C7B-2E1E-4753-891D-AD8E049D3D2A}" srcOrd="0" destOrd="0" presId="urn:microsoft.com/office/officeart/2008/layout/LinedList"/>
    <dgm:cxn modelId="{B6F49928-B854-4664-8499-5218E9952262}" srcId="{5F88B293-55B0-414C-A9B8-72B0FDA49A89}" destId="{C7FFDAB2-417C-42D6-9F8F-54EE4D123B09}" srcOrd="0" destOrd="0" parTransId="{36A4A3D0-EB82-42A8-BB73-94277F961E19}" sibTransId="{2488F801-FA64-4789-BA35-B3FADD117225}"/>
    <dgm:cxn modelId="{83461E38-6971-4E94-873F-67C0401C9E04}" srcId="{C7FFDAB2-417C-42D6-9F8F-54EE4D123B09}" destId="{CFCF473E-1DFA-4473-9EA4-B20DDCAEE765}" srcOrd="6" destOrd="0" parTransId="{52E6AAEC-342F-4BF1-8FA7-F45A3D319ECE}" sibTransId="{A5D91D96-B39D-4A14-B2B1-12AC5C13CD41}"/>
    <dgm:cxn modelId="{B778D45E-4817-476A-A19F-0645582BAC4F}" srcId="{C7FFDAB2-417C-42D6-9F8F-54EE4D123B09}" destId="{D9AB24AD-C032-4CCE-85E2-5267ECE8405B}" srcOrd="5" destOrd="0" parTransId="{B36164BC-7EB4-4CCA-99CB-C494202A74A0}" sibTransId="{32BC5517-DB3E-4A42-B78C-3D7EBB880128}"/>
    <dgm:cxn modelId="{58024166-E220-4446-A669-7FECFBD01DEB}" srcId="{C7FFDAB2-417C-42D6-9F8F-54EE4D123B09}" destId="{E8615C5D-3322-43FD-8A1E-1C14D444E605}" srcOrd="2" destOrd="0" parTransId="{4FAC3B09-7697-4AAF-9416-9C8A89001F31}" sibTransId="{BAA83B8C-31A4-459A-BE8E-5D9263FD23B4}"/>
    <dgm:cxn modelId="{6949BD66-DA20-45B7-AB7D-989092808597}" srcId="{C7FFDAB2-417C-42D6-9F8F-54EE4D123B09}" destId="{AC221566-5BA0-4B70-B194-38AA230C72A6}" srcOrd="3" destOrd="0" parTransId="{35FAD7C7-E7B9-4A9B-BCC2-3FF42502F284}" sibTransId="{8B2DBB4A-7155-49E9-8042-0CA9C66FF10B}"/>
    <dgm:cxn modelId="{03AE0C49-6EBA-4BAB-8932-EA8AC92C6062}" srcId="{C7FFDAB2-417C-42D6-9F8F-54EE4D123B09}" destId="{D6466886-6335-4E55-9A37-B5557B09EBCD}" srcOrd="1" destOrd="0" parTransId="{F3832034-2E9A-4280-9317-5CF309728AED}" sibTransId="{3701C0A3-BD4D-47D7-B253-8001DD4A7468}"/>
    <dgm:cxn modelId="{383A2B74-5B67-4E8B-A56F-8F3DC03E3D7E}" type="presOf" srcId="{D7F5BFEA-B5C3-4E5B-A63F-A03019A6AF7E}" destId="{94EACA60-22B6-4CB1-892D-50EC4E38866C}" srcOrd="0" destOrd="0" presId="urn:microsoft.com/office/officeart/2008/layout/LinedList"/>
    <dgm:cxn modelId="{94AB7754-F57B-4BDF-ABE2-9D010EB57F05}" type="presOf" srcId="{9CEDE4E3-DA35-4767-B9BD-4EECEBD9FE8C}" destId="{AF76B327-4896-4E5A-956C-A886F229F684}" srcOrd="0" destOrd="0" presId="urn:microsoft.com/office/officeart/2008/layout/LinedList"/>
    <dgm:cxn modelId="{918F3D79-C92B-4C8F-B8D9-1610A6697C03}" srcId="{C7FFDAB2-417C-42D6-9F8F-54EE4D123B09}" destId="{A7351267-618D-4223-9658-D420AEE159E8}" srcOrd="9" destOrd="0" parTransId="{1632A189-61C6-4CC3-91C7-432E7A3A27FC}" sibTransId="{EC5E58DA-A3CE-4859-A1B4-7DA72E7EC06F}"/>
    <dgm:cxn modelId="{13C8C17C-261F-4EE1-920E-F619E90FB1F0}" srcId="{C7FFDAB2-417C-42D6-9F8F-54EE4D123B09}" destId="{0C90C6F7-3A15-4F44-A1F4-57A40B680F7F}" srcOrd="0" destOrd="0" parTransId="{127D81C6-F32E-4A72-BDEA-BC42895A3328}" sibTransId="{B287DA76-2F56-4E82-BFBB-7F67C2EF2A73}"/>
    <dgm:cxn modelId="{8413937D-29CB-4225-819F-33E0CCAADC2F}" srcId="{C7FFDAB2-417C-42D6-9F8F-54EE4D123B09}" destId="{9CEDE4E3-DA35-4767-B9BD-4EECEBD9FE8C}" srcOrd="8" destOrd="0" parTransId="{40B51CEB-97AD-4047-B622-899D980770B1}" sibTransId="{08DE9203-2146-4202-9A3D-14E0C99DED57}"/>
    <dgm:cxn modelId="{8C970483-1A22-4D67-A763-C90E18B7571B}" type="presOf" srcId="{D6466886-6335-4E55-9A37-B5557B09EBCD}" destId="{9F1CF78E-D5F7-45DA-B66E-8DA33C105414}" srcOrd="0" destOrd="0" presId="urn:microsoft.com/office/officeart/2008/layout/LinedList"/>
    <dgm:cxn modelId="{4CD09086-7004-4139-BDFD-AF70BAF014B6}" type="presOf" srcId="{5F88B293-55B0-414C-A9B8-72B0FDA49A89}" destId="{8B4F7D0B-C521-42F7-9EFF-D18A4F2CFECD}" srcOrd="0" destOrd="0" presId="urn:microsoft.com/office/officeart/2008/layout/LinedList"/>
    <dgm:cxn modelId="{81E9C1A0-FC76-433A-9171-67D677439F4B}" type="presOf" srcId="{C7FFDAB2-417C-42D6-9F8F-54EE4D123B09}" destId="{7EFC8E01-A635-4C38-8459-D763B0832A4E}" srcOrd="0" destOrd="0" presId="urn:microsoft.com/office/officeart/2008/layout/LinedList"/>
    <dgm:cxn modelId="{E5215AB4-4E88-446E-B862-AD10ECC2D1B8}" type="presOf" srcId="{D9AB24AD-C032-4CCE-85E2-5267ECE8405B}" destId="{D0066551-C350-4C89-9BBF-B8D0AF6725DC}" srcOrd="0" destOrd="0" presId="urn:microsoft.com/office/officeart/2008/layout/LinedList"/>
    <dgm:cxn modelId="{CEC366CD-98AB-485B-95EC-89D999E632A2}" srcId="{C7FFDAB2-417C-42D6-9F8F-54EE4D123B09}" destId="{D7F5BFEA-B5C3-4E5B-A63F-A03019A6AF7E}" srcOrd="4" destOrd="0" parTransId="{9A72038C-078A-4677-8D71-1C83C47D3DB1}" sibTransId="{547E6930-39B2-4C23-AB52-6204F5A688F7}"/>
    <dgm:cxn modelId="{3588D7E1-0E3F-4302-9321-0FFD4048BE71}" srcId="{C7FFDAB2-417C-42D6-9F8F-54EE4D123B09}" destId="{711F19CE-80F0-4765-B6DB-DBCEEE81C72F}" srcOrd="7" destOrd="0" parTransId="{63431DAF-F048-4AAB-A137-0F358A197893}" sibTransId="{787AA030-1358-4D35-97BC-A87B2549853C}"/>
    <dgm:cxn modelId="{32943BE8-CDA0-43F8-ADDD-F7F31D83BF51}" type="presOf" srcId="{A7351267-618D-4223-9658-D420AEE159E8}" destId="{0674F587-7DB3-4C4E-9C38-4363DB34D3FB}" srcOrd="0" destOrd="0" presId="urn:microsoft.com/office/officeart/2008/layout/LinedList"/>
    <dgm:cxn modelId="{41B868FD-962A-4160-A8B8-8CB12686C0EC}" type="presOf" srcId="{E8615C5D-3322-43FD-8A1E-1C14D444E605}" destId="{53E5C0D8-4CCD-42D5-902E-EDAB54807963}" srcOrd="0" destOrd="0" presId="urn:microsoft.com/office/officeart/2008/layout/LinedList"/>
    <dgm:cxn modelId="{4544EBFF-2DEA-48F6-9E4A-228D7864BD86}" type="presOf" srcId="{0C90C6F7-3A15-4F44-A1F4-57A40B680F7F}" destId="{CB8FFE0F-C44D-44E0-A675-B7A8B6207C65}" srcOrd="0" destOrd="0" presId="urn:microsoft.com/office/officeart/2008/layout/LinedList"/>
    <dgm:cxn modelId="{AE7EAA6C-BFDA-429D-983A-905DC45A2D24}" type="presParOf" srcId="{8B4F7D0B-C521-42F7-9EFF-D18A4F2CFECD}" destId="{10AFC4A1-9222-46C4-8990-F797CB9CD696}" srcOrd="0" destOrd="0" presId="urn:microsoft.com/office/officeart/2008/layout/LinedList"/>
    <dgm:cxn modelId="{0197B7B9-FFB4-4E4A-839F-1529059317D3}" type="presParOf" srcId="{8B4F7D0B-C521-42F7-9EFF-D18A4F2CFECD}" destId="{A88DF8EA-3AB5-4107-9A44-EF4735C41200}" srcOrd="1" destOrd="0" presId="urn:microsoft.com/office/officeart/2008/layout/LinedList"/>
    <dgm:cxn modelId="{31B8401E-6A9B-4967-B3D4-5A01756FDCEB}" type="presParOf" srcId="{A88DF8EA-3AB5-4107-9A44-EF4735C41200}" destId="{7EFC8E01-A635-4C38-8459-D763B0832A4E}" srcOrd="0" destOrd="0" presId="urn:microsoft.com/office/officeart/2008/layout/LinedList"/>
    <dgm:cxn modelId="{D0AA2910-891F-4CF2-B182-B28E941ED3D3}" type="presParOf" srcId="{A88DF8EA-3AB5-4107-9A44-EF4735C41200}" destId="{33971E58-D1E8-432F-BF35-F36943D02BC0}" srcOrd="1" destOrd="0" presId="urn:microsoft.com/office/officeart/2008/layout/LinedList"/>
    <dgm:cxn modelId="{B609ACF3-8E32-445D-9E71-C39D260A2971}" type="presParOf" srcId="{33971E58-D1E8-432F-BF35-F36943D02BC0}" destId="{4AD2CDBC-2F7E-474F-8826-E3991831FE78}" srcOrd="0" destOrd="0" presId="urn:microsoft.com/office/officeart/2008/layout/LinedList"/>
    <dgm:cxn modelId="{0F2B537E-B593-4DB6-BA13-46214A1CBC56}" type="presParOf" srcId="{33971E58-D1E8-432F-BF35-F36943D02BC0}" destId="{0D0CB1D3-AC31-49DE-A963-AEF7189BAFE2}" srcOrd="1" destOrd="0" presId="urn:microsoft.com/office/officeart/2008/layout/LinedList"/>
    <dgm:cxn modelId="{9AD53F7B-A86C-4A3F-8183-6870B5F32050}" type="presParOf" srcId="{0D0CB1D3-AC31-49DE-A963-AEF7189BAFE2}" destId="{B18C81F3-F6F4-44AC-B0D6-D037D7F4E35C}" srcOrd="0" destOrd="0" presId="urn:microsoft.com/office/officeart/2008/layout/LinedList"/>
    <dgm:cxn modelId="{559068A4-C786-4521-9EFC-B6E2E7635A19}" type="presParOf" srcId="{0D0CB1D3-AC31-49DE-A963-AEF7189BAFE2}" destId="{CB8FFE0F-C44D-44E0-A675-B7A8B6207C65}" srcOrd="1" destOrd="0" presId="urn:microsoft.com/office/officeart/2008/layout/LinedList"/>
    <dgm:cxn modelId="{2805C957-205D-44C2-8274-C30F933E1084}" type="presParOf" srcId="{0D0CB1D3-AC31-49DE-A963-AEF7189BAFE2}" destId="{FED9613C-EBCC-4897-BFAF-AFFC2BC8543F}" srcOrd="2" destOrd="0" presId="urn:microsoft.com/office/officeart/2008/layout/LinedList"/>
    <dgm:cxn modelId="{F08FBD1F-03B5-4F73-A459-8DC4680010A8}" type="presParOf" srcId="{33971E58-D1E8-432F-BF35-F36943D02BC0}" destId="{9FB7D236-7B4A-446B-93D7-430B7B62F49C}" srcOrd="2" destOrd="0" presId="urn:microsoft.com/office/officeart/2008/layout/LinedList"/>
    <dgm:cxn modelId="{A451FF65-B8AD-48D7-A10B-0438694A7852}" type="presParOf" srcId="{33971E58-D1E8-432F-BF35-F36943D02BC0}" destId="{E7EF6EED-FB47-4A4A-A5A4-E2CFA093E7E3}" srcOrd="3" destOrd="0" presId="urn:microsoft.com/office/officeart/2008/layout/LinedList"/>
    <dgm:cxn modelId="{273CA895-FB07-45F5-B435-8EF5355CAEC6}" type="presParOf" srcId="{33971E58-D1E8-432F-BF35-F36943D02BC0}" destId="{D4673F1F-FABD-4D5C-9750-07A2CE90B96F}" srcOrd="4" destOrd="0" presId="urn:microsoft.com/office/officeart/2008/layout/LinedList"/>
    <dgm:cxn modelId="{45432221-B042-4CBD-A589-BF7C6CFD8ABB}" type="presParOf" srcId="{D4673F1F-FABD-4D5C-9750-07A2CE90B96F}" destId="{C654C8A4-69A5-4E7A-8E36-97048907CAE1}" srcOrd="0" destOrd="0" presId="urn:microsoft.com/office/officeart/2008/layout/LinedList"/>
    <dgm:cxn modelId="{6E746D98-AA01-407F-BD46-436628670010}" type="presParOf" srcId="{D4673F1F-FABD-4D5C-9750-07A2CE90B96F}" destId="{9F1CF78E-D5F7-45DA-B66E-8DA33C105414}" srcOrd="1" destOrd="0" presId="urn:microsoft.com/office/officeart/2008/layout/LinedList"/>
    <dgm:cxn modelId="{8964FFF3-2BF0-4E28-A317-D1A5ACC2F740}" type="presParOf" srcId="{D4673F1F-FABD-4D5C-9750-07A2CE90B96F}" destId="{7B28C070-BA65-4AB2-84A2-93C5E8F74A96}" srcOrd="2" destOrd="0" presId="urn:microsoft.com/office/officeart/2008/layout/LinedList"/>
    <dgm:cxn modelId="{27D44AA3-E312-43FA-89E6-933F73F2B684}" type="presParOf" srcId="{33971E58-D1E8-432F-BF35-F36943D02BC0}" destId="{F42286F5-71AE-4491-8A02-CE9357888C27}" srcOrd="5" destOrd="0" presId="urn:microsoft.com/office/officeart/2008/layout/LinedList"/>
    <dgm:cxn modelId="{6080F61F-15AB-4BDB-A58B-484E733F9472}" type="presParOf" srcId="{33971E58-D1E8-432F-BF35-F36943D02BC0}" destId="{3F9B95E9-A025-41CB-B02A-FC07CFB2329A}" srcOrd="6" destOrd="0" presId="urn:microsoft.com/office/officeart/2008/layout/LinedList"/>
    <dgm:cxn modelId="{D66808A1-AAE9-4B2A-9B93-18F98449EBCE}" type="presParOf" srcId="{33971E58-D1E8-432F-BF35-F36943D02BC0}" destId="{D659BDDD-A96A-4F08-8339-8194EA2B390F}" srcOrd="7" destOrd="0" presId="urn:microsoft.com/office/officeart/2008/layout/LinedList"/>
    <dgm:cxn modelId="{9BC428F8-51D5-454C-A18C-6C7B267513F3}" type="presParOf" srcId="{D659BDDD-A96A-4F08-8339-8194EA2B390F}" destId="{D701CDEE-8E56-41F4-BAF8-6C49F7EE065A}" srcOrd="0" destOrd="0" presId="urn:microsoft.com/office/officeart/2008/layout/LinedList"/>
    <dgm:cxn modelId="{A35B9086-32F2-479E-AE4E-A6CEBA4233CF}" type="presParOf" srcId="{D659BDDD-A96A-4F08-8339-8194EA2B390F}" destId="{53E5C0D8-4CCD-42D5-902E-EDAB54807963}" srcOrd="1" destOrd="0" presId="urn:microsoft.com/office/officeart/2008/layout/LinedList"/>
    <dgm:cxn modelId="{C42EC6A7-0EBA-45C2-AA35-FE7FDB16625A}" type="presParOf" srcId="{D659BDDD-A96A-4F08-8339-8194EA2B390F}" destId="{ECF7F73E-0918-4595-A7E7-4D6C790CB4FA}" srcOrd="2" destOrd="0" presId="urn:microsoft.com/office/officeart/2008/layout/LinedList"/>
    <dgm:cxn modelId="{AE2C2891-4680-41D5-AD26-D104EFE1D76E}" type="presParOf" srcId="{33971E58-D1E8-432F-BF35-F36943D02BC0}" destId="{520D172D-E5D7-4DDF-92C9-B398EB7E8916}" srcOrd="8" destOrd="0" presId="urn:microsoft.com/office/officeart/2008/layout/LinedList"/>
    <dgm:cxn modelId="{5DB08B6A-D145-46FB-B9ED-E52F75CA3CAC}" type="presParOf" srcId="{33971E58-D1E8-432F-BF35-F36943D02BC0}" destId="{B46DDD4A-0C4E-4225-A4B8-3B5CC4AE67CF}" srcOrd="9" destOrd="0" presId="urn:microsoft.com/office/officeart/2008/layout/LinedList"/>
    <dgm:cxn modelId="{FF27226E-9A70-47C8-BE3C-00DF4AF877F2}" type="presParOf" srcId="{33971E58-D1E8-432F-BF35-F36943D02BC0}" destId="{696E2DE5-2989-4901-9C90-23B03A468C1F}" srcOrd="10" destOrd="0" presId="urn:microsoft.com/office/officeart/2008/layout/LinedList"/>
    <dgm:cxn modelId="{4860459E-9D7D-41F3-B4F0-FD6330232C19}" type="presParOf" srcId="{696E2DE5-2989-4901-9C90-23B03A468C1F}" destId="{234BC159-77F3-481B-BA02-B2AD0853E6CF}" srcOrd="0" destOrd="0" presId="urn:microsoft.com/office/officeart/2008/layout/LinedList"/>
    <dgm:cxn modelId="{B94224B8-1D74-4597-986B-7D86D4D6D4D2}" type="presParOf" srcId="{696E2DE5-2989-4901-9C90-23B03A468C1F}" destId="{9D356C7B-2E1E-4753-891D-AD8E049D3D2A}" srcOrd="1" destOrd="0" presId="urn:microsoft.com/office/officeart/2008/layout/LinedList"/>
    <dgm:cxn modelId="{EF16C6C7-092E-43F5-9937-DA24FD6CA44A}" type="presParOf" srcId="{696E2DE5-2989-4901-9C90-23B03A468C1F}" destId="{CC517C28-B678-4231-92D8-2AAD61E11035}" srcOrd="2" destOrd="0" presId="urn:microsoft.com/office/officeart/2008/layout/LinedList"/>
    <dgm:cxn modelId="{79377C96-65DC-40B7-B28C-C6C7F9C84FA4}" type="presParOf" srcId="{33971E58-D1E8-432F-BF35-F36943D02BC0}" destId="{27DFD917-5C8D-4E56-8F03-300EFB3B94D4}" srcOrd="11" destOrd="0" presId="urn:microsoft.com/office/officeart/2008/layout/LinedList"/>
    <dgm:cxn modelId="{DE74338C-EBFD-4764-AFFB-6CE26A5B3970}" type="presParOf" srcId="{33971E58-D1E8-432F-BF35-F36943D02BC0}" destId="{D7605068-2AF5-46E6-8D38-4188757EC822}" srcOrd="12" destOrd="0" presId="urn:microsoft.com/office/officeart/2008/layout/LinedList"/>
    <dgm:cxn modelId="{D4A90200-17A3-4D2E-8ADA-51CC3D4B3DB6}" type="presParOf" srcId="{33971E58-D1E8-432F-BF35-F36943D02BC0}" destId="{B0D20DD8-6BDE-4859-80B0-5C2525C60925}" srcOrd="13" destOrd="0" presId="urn:microsoft.com/office/officeart/2008/layout/LinedList"/>
    <dgm:cxn modelId="{A51E9D5D-F97C-45CE-815A-B6962E32E8BB}" type="presParOf" srcId="{B0D20DD8-6BDE-4859-80B0-5C2525C60925}" destId="{6C7CE588-827C-463A-A418-5E523981566A}" srcOrd="0" destOrd="0" presId="urn:microsoft.com/office/officeart/2008/layout/LinedList"/>
    <dgm:cxn modelId="{FFE75996-C051-4992-AF99-C10F40C6C81F}" type="presParOf" srcId="{B0D20DD8-6BDE-4859-80B0-5C2525C60925}" destId="{94EACA60-22B6-4CB1-892D-50EC4E38866C}" srcOrd="1" destOrd="0" presId="urn:microsoft.com/office/officeart/2008/layout/LinedList"/>
    <dgm:cxn modelId="{C328453F-2838-493E-B4A2-2FE35AE06475}" type="presParOf" srcId="{B0D20DD8-6BDE-4859-80B0-5C2525C60925}" destId="{86312BA7-FE91-4815-B6DF-25C618E872F7}" srcOrd="2" destOrd="0" presId="urn:microsoft.com/office/officeart/2008/layout/LinedList"/>
    <dgm:cxn modelId="{B646118D-EC87-44F9-AF0A-CE4DDF3FB8FA}" type="presParOf" srcId="{33971E58-D1E8-432F-BF35-F36943D02BC0}" destId="{FCA5746B-B197-4285-8A78-677EEF54267A}" srcOrd="14" destOrd="0" presId="urn:microsoft.com/office/officeart/2008/layout/LinedList"/>
    <dgm:cxn modelId="{212E92AC-F333-4443-84AA-4337DDE48EFD}" type="presParOf" srcId="{33971E58-D1E8-432F-BF35-F36943D02BC0}" destId="{BAC228AC-3545-4B7A-9532-99176FC01F72}" srcOrd="15" destOrd="0" presId="urn:microsoft.com/office/officeart/2008/layout/LinedList"/>
    <dgm:cxn modelId="{5E5A5A27-B6F6-4831-9CA2-F54E43B1CE9D}" type="presParOf" srcId="{33971E58-D1E8-432F-BF35-F36943D02BC0}" destId="{4AF73DB3-CAE1-4BB2-94DE-F63406CA29D9}" srcOrd="16" destOrd="0" presId="urn:microsoft.com/office/officeart/2008/layout/LinedList"/>
    <dgm:cxn modelId="{BC6FE6D3-6B8A-48BE-9A44-8E139FF9EA15}" type="presParOf" srcId="{4AF73DB3-CAE1-4BB2-94DE-F63406CA29D9}" destId="{3C810529-1A13-40D3-9118-8B9BC8074A5F}" srcOrd="0" destOrd="0" presId="urn:microsoft.com/office/officeart/2008/layout/LinedList"/>
    <dgm:cxn modelId="{B7E29EC2-2F2D-4287-B88F-8CB325F6A7EB}" type="presParOf" srcId="{4AF73DB3-CAE1-4BB2-94DE-F63406CA29D9}" destId="{D0066551-C350-4C89-9BBF-B8D0AF6725DC}" srcOrd="1" destOrd="0" presId="urn:microsoft.com/office/officeart/2008/layout/LinedList"/>
    <dgm:cxn modelId="{30723B22-F2DF-4709-88AE-886258E9A747}" type="presParOf" srcId="{4AF73DB3-CAE1-4BB2-94DE-F63406CA29D9}" destId="{1F4FAC85-57FF-44AE-A77D-6255F61A4247}" srcOrd="2" destOrd="0" presId="urn:microsoft.com/office/officeart/2008/layout/LinedList"/>
    <dgm:cxn modelId="{934998C3-606C-4EF4-841F-8DC512982639}" type="presParOf" srcId="{33971E58-D1E8-432F-BF35-F36943D02BC0}" destId="{42F7A6CA-B5F0-4F76-B05C-541760FC8B78}" srcOrd="17" destOrd="0" presId="urn:microsoft.com/office/officeart/2008/layout/LinedList"/>
    <dgm:cxn modelId="{C3E24212-C03D-4DF0-A5D0-AD9E002FE288}" type="presParOf" srcId="{33971E58-D1E8-432F-BF35-F36943D02BC0}" destId="{5F9C8F25-76C5-4534-9255-0E3177345C1F}" srcOrd="18" destOrd="0" presId="urn:microsoft.com/office/officeart/2008/layout/LinedList"/>
    <dgm:cxn modelId="{BB5E6634-CA93-4965-A568-13DD40CC8E7E}" type="presParOf" srcId="{33971E58-D1E8-432F-BF35-F36943D02BC0}" destId="{4A8B53DE-3603-46A7-AC19-26F413283B06}" srcOrd="19" destOrd="0" presId="urn:microsoft.com/office/officeart/2008/layout/LinedList"/>
    <dgm:cxn modelId="{488F30C4-DC51-4D0F-942E-83BEDF81176C}" type="presParOf" srcId="{4A8B53DE-3603-46A7-AC19-26F413283B06}" destId="{8CB4BAEB-8693-4808-9F95-0DB8667302A2}" srcOrd="0" destOrd="0" presId="urn:microsoft.com/office/officeart/2008/layout/LinedList"/>
    <dgm:cxn modelId="{ABB6C5A2-B5D5-4D5F-AB7E-643CF1FEE1F7}" type="presParOf" srcId="{4A8B53DE-3603-46A7-AC19-26F413283B06}" destId="{6D02FEA0-4C36-44E7-8DC0-96F83384679C}" srcOrd="1" destOrd="0" presId="urn:microsoft.com/office/officeart/2008/layout/LinedList"/>
    <dgm:cxn modelId="{F2066FF6-D9B0-466A-AA9D-F539AE4E4958}" type="presParOf" srcId="{4A8B53DE-3603-46A7-AC19-26F413283B06}" destId="{BC95E05A-EFD2-4BFD-BABB-E8048D152452}" srcOrd="2" destOrd="0" presId="urn:microsoft.com/office/officeart/2008/layout/LinedList"/>
    <dgm:cxn modelId="{52FCFB43-DBB5-4A12-BA6E-106A3DDFC6EF}" type="presParOf" srcId="{33971E58-D1E8-432F-BF35-F36943D02BC0}" destId="{2CB2F0A3-44C2-43CD-B100-CA949B993958}" srcOrd="20" destOrd="0" presId="urn:microsoft.com/office/officeart/2008/layout/LinedList"/>
    <dgm:cxn modelId="{09BE819F-3C64-40F4-8386-86AEB31C9411}" type="presParOf" srcId="{33971E58-D1E8-432F-BF35-F36943D02BC0}" destId="{DE12DEC4-96B2-40F7-A2FD-C9B6C047FFAE}" srcOrd="21" destOrd="0" presId="urn:microsoft.com/office/officeart/2008/layout/LinedList"/>
    <dgm:cxn modelId="{D1F91E63-67D9-4079-9087-02FF2C60FAD6}" type="presParOf" srcId="{33971E58-D1E8-432F-BF35-F36943D02BC0}" destId="{62D7C75F-74B4-48F8-8D60-E16064A95854}" srcOrd="22" destOrd="0" presId="urn:microsoft.com/office/officeart/2008/layout/LinedList"/>
    <dgm:cxn modelId="{4F86AB31-9D6F-48A5-9629-5241EDF5A61D}" type="presParOf" srcId="{62D7C75F-74B4-48F8-8D60-E16064A95854}" destId="{30AE5136-0D46-48B4-ABA9-E9448B1F97DB}" srcOrd="0" destOrd="0" presId="urn:microsoft.com/office/officeart/2008/layout/LinedList"/>
    <dgm:cxn modelId="{129CF242-F290-4698-8E6B-58DDED5C3727}" type="presParOf" srcId="{62D7C75F-74B4-48F8-8D60-E16064A95854}" destId="{33BB4316-9A6D-478D-8DF6-FC31BD50A475}" srcOrd="1" destOrd="0" presId="urn:microsoft.com/office/officeart/2008/layout/LinedList"/>
    <dgm:cxn modelId="{0305C280-5A34-4FDA-BB8F-B0E775CC84D3}" type="presParOf" srcId="{62D7C75F-74B4-48F8-8D60-E16064A95854}" destId="{B24395A1-E4E7-4047-95AA-12D0FFEBFB74}" srcOrd="2" destOrd="0" presId="urn:microsoft.com/office/officeart/2008/layout/LinedList"/>
    <dgm:cxn modelId="{D07D1706-B581-4AC2-8FB7-5EB4AD82474D}" type="presParOf" srcId="{33971E58-D1E8-432F-BF35-F36943D02BC0}" destId="{A9A4F1D3-21DF-47A1-8008-40E1C099430A}" srcOrd="23" destOrd="0" presId="urn:microsoft.com/office/officeart/2008/layout/LinedList"/>
    <dgm:cxn modelId="{7E4BD9C0-FDC7-4F85-80B3-87B9F02E3D13}" type="presParOf" srcId="{33971E58-D1E8-432F-BF35-F36943D02BC0}" destId="{26BFBF4A-5D2E-4BEB-86F0-C1E410B771ED}" srcOrd="24" destOrd="0" presId="urn:microsoft.com/office/officeart/2008/layout/LinedList"/>
    <dgm:cxn modelId="{76BE3D8D-6FF3-4011-8290-382813528D0B}" type="presParOf" srcId="{33971E58-D1E8-432F-BF35-F36943D02BC0}" destId="{B381B36D-5548-41BD-9692-1044B04BC7C2}" srcOrd="25" destOrd="0" presId="urn:microsoft.com/office/officeart/2008/layout/LinedList"/>
    <dgm:cxn modelId="{B59D6BB8-098E-4E59-A5D9-168704B19518}" type="presParOf" srcId="{B381B36D-5548-41BD-9692-1044B04BC7C2}" destId="{EF060F0C-8DEC-48CE-A523-D1A22A085DF3}" srcOrd="0" destOrd="0" presId="urn:microsoft.com/office/officeart/2008/layout/LinedList"/>
    <dgm:cxn modelId="{CEBA434B-12BF-43B1-8C06-2FA3552466BD}" type="presParOf" srcId="{B381B36D-5548-41BD-9692-1044B04BC7C2}" destId="{AF76B327-4896-4E5A-956C-A886F229F684}" srcOrd="1" destOrd="0" presId="urn:microsoft.com/office/officeart/2008/layout/LinedList"/>
    <dgm:cxn modelId="{21B1AC6E-C229-4D42-B57B-10813F96F608}" type="presParOf" srcId="{B381B36D-5548-41BD-9692-1044B04BC7C2}" destId="{D5A89628-468D-47E6-9BF2-5758B498A7D2}" srcOrd="2" destOrd="0" presId="urn:microsoft.com/office/officeart/2008/layout/LinedList"/>
    <dgm:cxn modelId="{C181F5ED-FDE8-4092-B98B-5FA928C89EEF}" type="presParOf" srcId="{33971E58-D1E8-432F-BF35-F36943D02BC0}" destId="{A0DB921B-2BD6-4B04-B1DB-3F1C34D5A8B5}" srcOrd="26" destOrd="0" presId="urn:microsoft.com/office/officeart/2008/layout/LinedList"/>
    <dgm:cxn modelId="{2AA96385-7F4F-4204-A9AB-76DAC0D80128}" type="presParOf" srcId="{33971E58-D1E8-432F-BF35-F36943D02BC0}" destId="{127DB6C3-58BC-4B0E-BAF8-622581AE5A7A}" srcOrd="27" destOrd="0" presId="urn:microsoft.com/office/officeart/2008/layout/LinedList"/>
    <dgm:cxn modelId="{38572651-8893-4307-B258-B2E2B4FB9291}" type="presParOf" srcId="{33971E58-D1E8-432F-BF35-F36943D02BC0}" destId="{950A8B10-7CEF-40B3-81FA-E515922E5991}" srcOrd="28" destOrd="0" presId="urn:microsoft.com/office/officeart/2008/layout/LinedList"/>
    <dgm:cxn modelId="{F8F0FB31-F099-4AE4-B520-11833E2753B4}" type="presParOf" srcId="{950A8B10-7CEF-40B3-81FA-E515922E5991}" destId="{87611B3B-6338-4F52-9D7D-962E2D6724E8}" srcOrd="0" destOrd="0" presId="urn:microsoft.com/office/officeart/2008/layout/LinedList"/>
    <dgm:cxn modelId="{417256AF-38E4-4F7B-9D00-75A280C9A776}" type="presParOf" srcId="{950A8B10-7CEF-40B3-81FA-E515922E5991}" destId="{0674F587-7DB3-4C4E-9C38-4363DB34D3FB}" srcOrd="1" destOrd="0" presId="urn:microsoft.com/office/officeart/2008/layout/LinedList"/>
    <dgm:cxn modelId="{5FF67114-B3EB-4E9E-9541-FACB68161B51}" type="presParOf" srcId="{950A8B10-7CEF-40B3-81FA-E515922E5991}" destId="{02390569-6831-45BC-BFF5-70CC6C6D32BE}" srcOrd="2" destOrd="0" presId="urn:microsoft.com/office/officeart/2008/layout/LinedList"/>
    <dgm:cxn modelId="{355518AF-A2C1-414B-BA00-E60529AB4661}" type="presParOf" srcId="{33971E58-D1E8-432F-BF35-F36943D02BC0}" destId="{CAC564DD-3B5C-4E53-BD79-247D2FC1CA14}" srcOrd="29" destOrd="0" presId="urn:microsoft.com/office/officeart/2008/layout/LinedList"/>
    <dgm:cxn modelId="{F4583D81-0885-4CD4-A965-BAE97CB5A88B}" type="presParOf" srcId="{33971E58-D1E8-432F-BF35-F36943D02BC0}" destId="{3A012EBF-0609-4F9A-AF68-946355F2A452}" srcOrd="30" destOrd="0" presId="urn:microsoft.com/office/officeart/2008/layout/Line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AFC4A1-9222-46C4-8990-F797CB9CD696}">
      <dsp:nvSpPr>
        <dsp:cNvPr id="0" name=""/>
        <dsp:cNvSpPr/>
      </dsp:nvSpPr>
      <dsp:spPr>
        <a:xfrm>
          <a:off x="0" y="0"/>
          <a:ext cx="10347489" cy="0"/>
        </a:xfrm>
        <a:prstGeom prst="line">
          <a:avLst/>
        </a:prstGeom>
        <a:gradFill rotWithShape="0">
          <a:gsLst>
            <a:gs pos="0">
              <a:schemeClr val="dk2">
                <a:hueOff val="0"/>
                <a:satOff val="0"/>
                <a:lumOff val="0"/>
                <a:alphaOff val="0"/>
                <a:shade val="85000"/>
                <a:satMod val="130000"/>
              </a:schemeClr>
            </a:gs>
            <a:gs pos="34000">
              <a:schemeClr val="dk2">
                <a:hueOff val="0"/>
                <a:satOff val="0"/>
                <a:lumOff val="0"/>
                <a:alphaOff val="0"/>
                <a:shade val="87000"/>
                <a:satMod val="125000"/>
              </a:schemeClr>
            </a:gs>
            <a:gs pos="70000">
              <a:schemeClr val="dk2">
                <a:hueOff val="0"/>
                <a:satOff val="0"/>
                <a:lumOff val="0"/>
                <a:alphaOff val="0"/>
                <a:tint val="100000"/>
                <a:shade val="90000"/>
                <a:satMod val="130000"/>
              </a:schemeClr>
            </a:gs>
            <a:gs pos="100000">
              <a:schemeClr val="dk2">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7EFC8E01-A635-4C38-8459-D763B0832A4E}">
      <dsp:nvSpPr>
        <dsp:cNvPr id="0" name=""/>
        <dsp:cNvSpPr/>
      </dsp:nvSpPr>
      <dsp:spPr>
        <a:xfrm>
          <a:off x="0" y="0"/>
          <a:ext cx="2069497" cy="4851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kern="1200" dirty="0">
              <a:latin typeface="Bookman Old Style" panose="02050604050505020204" pitchFamily="18" charset="0"/>
              <a:cs typeface="2  Mitra_2 (MRT)" panose="00000700000000000000" pitchFamily="2" charset="-78"/>
            </a:rPr>
            <a:t>sources</a:t>
          </a:r>
        </a:p>
      </dsp:txBody>
      <dsp:txXfrm>
        <a:off x="0" y="0"/>
        <a:ext cx="2069497" cy="4851575"/>
      </dsp:txXfrm>
    </dsp:sp>
    <dsp:sp modelId="{CB8FFE0F-C44D-44E0-A675-B7A8B6207C65}">
      <dsp:nvSpPr>
        <dsp:cNvPr id="0" name=""/>
        <dsp:cNvSpPr/>
      </dsp:nvSpPr>
      <dsp:spPr>
        <a:xfrm>
          <a:off x="2224710" y="22978"/>
          <a:ext cx="8122778" cy="459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rtl="0">
            <a:lnSpc>
              <a:spcPct val="90000"/>
            </a:lnSpc>
            <a:spcBef>
              <a:spcPct val="0"/>
            </a:spcBef>
            <a:spcAft>
              <a:spcPct val="35000"/>
            </a:spcAft>
            <a:buNone/>
          </a:pPr>
          <a:r>
            <a:rPr lang="en-US" sz="2100" b="0" kern="1200" dirty="0">
              <a:hlinkClick xmlns:r="http://schemas.openxmlformats.org/officeDocument/2006/relationships" r:id="rId1"/>
            </a:rPr>
            <a:t>NumPy </a:t>
          </a:r>
          <a:endParaRPr lang="en-US" sz="2100" kern="1200" dirty="0"/>
        </a:p>
      </dsp:txBody>
      <dsp:txXfrm>
        <a:off x="2224710" y="22978"/>
        <a:ext cx="8122778" cy="459573"/>
      </dsp:txXfrm>
    </dsp:sp>
    <dsp:sp modelId="{9FB7D236-7B4A-446B-93D7-430B7B62F49C}">
      <dsp:nvSpPr>
        <dsp:cNvPr id="0" name=""/>
        <dsp:cNvSpPr/>
      </dsp:nvSpPr>
      <dsp:spPr>
        <a:xfrm>
          <a:off x="2069497" y="482551"/>
          <a:ext cx="8277991" cy="0"/>
        </a:xfrm>
        <a:prstGeom prst="line">
          <a:avLst/>
        </a:prstGeom>
        <a:solidFill>
          <a:schemeClr val="dk2">
            <a:hueOff val="0"/>
            <a:satOff val="0"/>
            <a:lumOff val="0"/>
            <a:alphaOff val="0"/>
          </a:schemeClr>
        </a:solidFill>
        <a:ln w="15875" cap="flat" cmpd="sng" algn="ctr">
          <a:solidFill>
            <a:schemeClr val="dk2">
              <a:tint val="50000"/>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9F1CF78E-D5F7-45DA-B66E-8DA33C105414}">
      <dsp:nvSpPr>
        <dsp:cNvPr id="0" name=""/>
        <dsp:cNvSpPr/>
      </dsp:nvSpPr>
      <dsp:spPr>
        <a:xfrm>
          <a:off x="2224710" y="505530"/>
          <a:ext cx="8122778" cy="459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0" kern="1200" dirty="0">
              <a:hlinkClick xmlns:r="http://schemas.openxmlformats.org/officeDocument/2006/relationships" r:id="rId2"/>
            </a:rPr>
            <a:t>matplotlib</a:t>
          </a:r>
          <a:endParaRPr lang="en-US" sz="2100" kern="1200" dirty="0"/>
        </a:p>
      </dsp:txBody>
      <dsp:txXfrm>
        <a:off x="2224710" y="505530"/>
        <a:ext cx="8122778" cy="459573"/>
      </dsp:txXfrm>
    </dsp:sp>
    <dsp:sp modelId="{F42286F5-71AE-4491-8A02-CE9357888C27}">
      <dsp:nvSpPr>
        <dsp:cNvPr id="0" name=""/>
        <dsp:cNvSpPr/>
      </dsp:nvSpPr>
      <dsp:spPr>
        <a:xfrm>
          <a:off x="2069497" y="965103"/>
          <a:ext cx="8277991" cy="0"/>
        </a:xfrm>
        <a:prstGeom prst="line">
          <a:avLst/>
        </a:prstGeom>
        <a:solidFill>
          <a:schemeClr val="dk2">
            <a:hueOff val="0"/>
            <a:satOff val="0"/>
            <a:lumOff val="0"/>
            <a:alphaOff val="0"/>
          </a:schemeClr>
        </a:solidFill>
        <a:ln w="15875" cap="flat" cmpd="sng" algn="ctr">
          <a:solidFill>
            <a:schemeClr val="dk2">
              <a:tint val="50000"/>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53E5C0D8-4CCD-42D5-902E-EDAB54807963}">
      <dsp:nvSpPr>
        <dsp:cNvPr id="0" name=""/>
        <dsp:cNvSpPr/>
      </dsp:nvSpPr>
      <dsp:spPr>
        <a:xfrm>
          <a:off x="2224710" y="988081"/>
          <a:ext cx="8122778" cy="459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0" kern="1200" dirty="0">
              <a:hlinkClick xmlns:r="http://schemas.openxmlformats.org/officeDocument/2006/relationships" r:id="rId3"/>
            </a:rPr>
            <a:t>Sklearn(datasets)</a:t>
          </a:r>
          <a:endParaRPr lang="en-US" sz="2100" kern="1200" dirty="0"/>
        </a:p>
      </dsp:txBody>
      <dsp:txXfrm>
        <a:off x="2224710" y="988081"/>
        <a:ext cx="8122778" cy="459573"/>
      </dsp:txXfrm>
    </dsp:sp>
    <dsp:sp modelId="{520D172D-E5D7-4DDF-92C9-B398EB7E8916}">
      <dsp:nvSpPr>
        <dsp:cNvPr id="0" name=""/>
        <dsp:cNvSpPr/>
      </dsp:nvSpPr>
      <dsp:spPr>
        <a:xfrm>
          <a:off x="2069497" y="1447655"/>
          <a:ext cx="8277991" cy="0"/>
        </a:xfrm>
        <a:prstGeom prst="line">
          <a:avLst/>
        </a:prstGeom>
        <a:solidFill>
          <a:schemeClr val="dk2">
            <a:hueOff val="0"/>
            <a:satOff val="0"/>
            <a:lumOff val="0"/>
            <a:alphaOff val="0"/>
          </a:schemeClr>
        </a:solidFill>
        <a:ln w="15875" cap="flat" cmpd="sng" algn="ctr">
          <a:solidFill>
            <a:schemeClr val="dk2">
              <a:tint val="50000"/>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9D356C7B-2E1E-4753-891D-AD8E049D3D2A}">
      <dsp:nvSpPr>
        <dsp:cNvPr id="0" name=""/>
        <dsp:cNvSpPr/>
      </dsp:nvSpPr>
      <dsp:spPr>
        <a:xfrm>
          <a:off x="2224710" y="1470633"/>
          <a:ext cx="8122778" cy="459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0" kern="1200" dirty="0">
              <a:hlinkClick xmlns:r="http://schemas.openxmlformats.org/officeDocument/2006/relationships" r:id="rId4"/>
            </a:rPr>
            <a:t>Sklearn_neighbors(KNN)</a:t>
          </a:r>
          <a:endParaRPr lang="en-US" sz="2100" kern="1200" dirty="0"/>
        </a:p>
      </dsp:txBody>
      <dsp:txXfrm>
        <a:off x="2224710" y="1470633"/>
        <a:ext cx="8122778" cy="459573"/>
      </dsp:txXfrm>
    </dsp:sp>
    <dsp:sp modelId="{27DFD917-5C8D-4E56-8F03-300EFB3B94D4}">
      <dsp:nvSpPr>
        <dsp:cNvPr id="0" name=""/>
        <dsp:cNvSpPr/>
      </dsp:nvSpPr>
      <dsp:spPr>
        <a:xfrm>
          <a:off x="2069497" y="1930206"/>
          <a:ext cx="8277991" cy="0"/>
        </a:xfrm>
        <a:prstGeom prst="line">
          <a:avLst/>
        </a:prstGeom>
        <a:solidFill>
          <a:schemeClr val="dk2">
            <a:hueOff val="0"/>
            <a:satOff val="0"/>
            <a:lumOff val="0"/>
            <a:alphaOff val="0"/>
          </a:schemeClr>
        </a:solidFill>
        <a:ln w="15875" cap="flat" cmpd="sng" algn="ctr">
          <a:solidFill>
            <a:schemeClr val="dk2">
              <a:tint val="50000"/>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94EACA60-22B6-4CB1-892D-50EC4E38866C}">
      <dsp:nvSpPr>
        <dsp:cNvPr id="0" name=""/>
        <dsp:cNvSpPr/>
      </dsp:nvSpPr>
      <dsp:spPr>
        <a:xfrm>
          <a:off x="2224710" y="1953185"/>
          <a:ext cx="8122778" cy="459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0" kern="1200" dirty="0">
              <a:hlinkClick xmlns:r="http://schemas.openxmlformats.org/officeDocument/2006/relationships" r:id="rId5"/>
            </a:rPr>
            <a:t>Collections </a:t>
          </a:r>
          <a:endParaRPr lang="en-US" sz="2100" kern="1200" dirty="0"/>
        </a:p>
      </dsp:txBody>
      <dsp:txXfrm>
        <a:off x="2224710" y="1953185"/>
        <a:ext cx="8122778" cy="459573"/>
      </dsp:txXfrm>
    </dsp:sp>
    <dsp:sp modelId="{FCA5746B-B197-4285-8A78-677EEF54267A}">
      <dsp:nvSpPr>
        <dsp:cNvPr id="0" name=""/>
        <dsp:cNvSpPr/>
      </dsp:nvSpPr>
      <dsp:spPr>
        <a:xfrm>
          <a:off x="2069497" y="2412758"/>
          <a:ext cx="8277991" cy="0"/>
        </a:xfrm>
        <a:prstGeom prst="line">
          <a:avLst/>
        </a:prstGeom>
        <a:solidFill>
          <a:schemeClr val="dk2">
            <a:hueOff val="0"/>
            <a:satOff val="0"/>
            <a:lumOff val="0"/>
            <a:alphaOff val="0"/>
          </a:schemeClr>
        </a:solidFill>
        <a:ln w="15875" cap="flat" cmpd="sng" algn="ctr">
          <a:solidFill>
            <a:schemeClr val="dk2">
              <a:tint val="50000"/>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D0066551-C350-4C89-9BBF-B8D0AF6725DC}">
      <dsp:nvSpPr>
        <dsp:cNvPr id="0" name=""/>
        <dsp:cNvSpPr/>
      </dsp:nvSpPr>
      <dsp:spPr>
        <a:xfrm>
          <a:off x="2224710" y="2435737"/>
          <a:ext cx="8122778" cy="459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dirty="0">
              <a:hlinkClick xmlns:r="http://schemas.openxmlformats.org/officeDocument/2006/relationships" r:id="rId6"/>
            </a:rPr>
            <a:t>Python</a:t>
          </a:r>
          <a:endParaRPr lang="en-US" sz="2100" kern="1200" dirty="0"/>
        </a:p>
      </dsp:txBody>
      <dsp:txXfrm>
        <a:off x="2224710" y="2435737"/>
        <a:ext cx="8122778" cy="459573"/>
      </dsp:txXfrm>
    </dsp:sp>
    <dsp:sp modelId="{42F7A6CA-B5F0-4F76-B05C-541760FC8B78}">
      <dsp:nvSpPr>
        <dsp:cNvPr id="0" name=""/>
        <dsp:cNvSpPr/>
      </dsp:nvSpPr>
      <dsp:spPr>
        <a:xfrm>
          <a:off x="2069497" y="2895310"/>
          <a:ext cx="8277991" cy="0"/>
        </a:xfrm>
        <a:prstGeom prst="line">
          <a:avLst/>
        </a:prstGeom>
        <a:solidFill>
          <a:schemeClr val="dk2">
            <a:hueOff val="0"/>
            <a:satOff val="0"/>
            <a:lumOff val="0"/>
            <a:alphaOff val="0"/>
          </a:schemeClr>
        </a:solidFill>
        <a:ln w="15875" cap="flat" cmpd="sng" algn="ctr">
          <a:solidFill>
            <a:schemeClr val="dk2">
              <a:tint val="50000"/>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6D02FEA0-4C36-44E7-8DC0-96F83384679C}">
      <dsp:nvSpPr>
        <dsp:cNvPr id="0" name=""/>
        <dsp:cNvSpPr/>
      </dsp:nvSpPr>
      <dsp:spPr>
        <a:xfrm>
          <a:off x="2224710" y="2918288"/>
          <a:ext cx="8122778" cy="459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dirty="0">
              <a:hlinkClick xmlns:r="http://schemas.openxmlformats.org/officeDocument/2006/relationships" r:id="rId7"/>
            </a:rPr>
            <a:t>Faradars</a:t>
          </a:r>
          <a:endParaRPr lang="en-US" sz="2100" kern="1200" dirty="0"/>
        </a:p>
      </dsp:txBody>
      <dsp:txXfrm>
        <a:off x="2224710" y="2918288"/>
        <a:ext cx="8122778" cy="459573"/>
      </dsp:txXfrm>
    </dsp:sp>
    <dsp:sp modelId="{2CB2F0A3-44C2-43CD-B100-CA949B993958}">
      <dsp:nvSpPr>
        <dsp:cNvPr id="0" name=""/>
        <dsp:cNvSpPr/>
      </dsp:nvSpPr>
      <dsp:spPr>
        <a:xfrm>
          <a:off x="2069497" y="3377861"/>
          <a:ext cx="8277991" cy="0"/>
        </a:xfrm>
        <a:prstGeom prst="line">
          <a:avLst/>
        </a:prstGeom>
        <a:solidFill>
          <a:schemeClr val="dk2">
            <a:hueOff val="0"/>
            <a:satOff val="0"/>
            <a:lumOff val="0"/>
            <a:alphaOff val="0"/>
          </a:schemeClr>
        </a:solidFill>
        <a:ln w="15875" cap="flat" cmpd="sng" algn="ctr">
          <a:solidFill>
            <a:schemeClr val="dk2">
              <a:tint val="50000"/>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33BB4316-9A6D-478D-8DF6-FC31BD50A475}">
      <dsp:nvSpPr>
        <dsp:cNvPr id="0" name=""/>
        <dsp:cNvSpPr/>
      </dsp:nvSpPr>
      <dsp:spPr>
        <a:xfrm>
          <a:off x="2224710" y="3400840"/>
          <a:ext cx="8122778" cy="459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dirty="0">
              <a:hlinkClick xmlns:r="http://schemas.openxmlformats.org/officeDocument/2006/relationships" r:id="rId8"/>
            </a:rPr>
            <a:t>DeepSeek</a:t>
          </a:r>
          <a:endParaRPr lang="en-US" sz="2100" kern="1200" dirty="0"/>
        </a:p>
      </dsp:txBody>
      <dsp:txXfrm>
        <a:off x="2224710" y="3400840"/>
        <a:ext cx="8122778" cy="459573"/>
      </dsp:txXfrm>
    </dsp:sp>
    <dsp:sp modelId="{A9A4F1D3-21DF-47A1-8008-40E1C099430A}">
      <dsp:nvSpPr>
        <dsp:cNvPr id="0" name=""/>
        <dsp:cNvSpPr/>
      </dsp:nvSpPr>
      <dsp:spPr>
        <a:xfrm>
          <a:off x="2069497" y="3860413"/>
          <a:ext cx="8277991" cy="0"/>
        </a:xfrm>
        <a:prstGeom prst="line">
          <a:avLst/>
        </a:prstGeom>
        <a:solidFill>
          <a:schemeClr val="dk2">
            <a:hueOff val="0"/>
            <a:satOff val="0"/>
            <a:lumOff val="0"/>
            <a:alphaOff val="0"/>
          </a:schemeClr>
        </a:solidFill>
        <a:ln w="15875" cap="flat" cmpd="sng" algn="ctr">
          <a:solidFill>
            <a:schemeClr val="dk2">
              <a:tint val="50000"/>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AF76B327-4896-4E5A-956C-A886F229F684}">
      <dsp:nvSpPr>
        <dsp:cNvPr id="0" name=""/>
        <dsp:cNvSpPr/>
      </dsp:nvSpPr>
      <dsp:spPr>
        <a:xfrm>
          <a:off x="2224710" y="3883392"/>
          <a:ext cx="8122778" cy="459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dirty="0">
              <a:hlinkClick xmlns:r="http://schemas.openxmlformats.org/officeDocument/2006/relationships" r:id="rId9"/>
            </a:rPr>
            <a:t>W2school</a:t>
          </a:r>
          <a:endParaRPr lang="en-US" sz="2100" kern="1200" dirty="0"/>
        </a:p>
      </dsp:txBody>
      <dsp:txXfrm>
        <a:off x="2224710" y="3883392"/>
        <a:ext cx="8122778" cy="459573"/>
      </dsp:txXfrm>
    </dsp:sp>
    <dsp:sp modelId="{A0DB921B-2BD6-4B04-B1DB-3F1C34D5A8B5}">
      <dsp:nvSpPr>
        <dsp:cNvPr id="0" name=""/>
        <dsp:cNvSpPr/>
      </dsp:nvSpPr>
      <dsp:spPr>
        <a:xfrm>
          <a:off x="2069497" y="4342965"/>
          <a:ext cx="8277991" cy="0"/>
        </a:xfrm>
        <a:prstGeom prst="line">
          <a:avLst/>
        </a:prstGeom>
        <a:solidFill>
          <a:schemeClr val="dk2">
            <a:hueOff val="0"/>
            <a:satOff val="0"/>
            <a:lumOff val="0"/>
            <a:alphaOff val="0"/>
          </a:schemeClr>
        </a:solidFill>
        <a:ln w="15875" cap="flat" cmpd="sng" algn="ctr">
          <a:solidFill>
            <a:schemeClr val="dk2">
              <a:tint val="50000"/>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0674F587-7DB3-4C4E-9C38-4363DB34D3FB}">
      <dsp:nvSpPr>
        <dsp:cNvPr id="0" name=""/>
        <dsp:cNvSpPr/>
      </dsp:nvSpPr>
      <dsp:spPr>
        <a:xfrm>
          <a:off x="2224710" y="4365943"/>
          <a:ext cx="8122778" cy="459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dirty="0"/>
            <a:t>GitHub : Hatef-skywalker007</a:t>
          </a:r>
        </a:p>
      </dsp:txBody>
      <dsp:txXfrm>
        <a:off x="2224710" y="4365943"/>
        <a:ext cx="8122778" cy="459573"/>
      </dsp:txXfrm>
    </dsp:sp>
    <dsp:sp modelId="{CAC564DD-3B5C-4E53-BD79-247D2FC1CA14}">
      <dsp:nvSpPr>
        <dsp:cNvPr id="0" name=""/>
        <dsp:cNvSpPr/>
      </dsp:nvSpPr>
      <dsp:spPr>
        <a:xfrm>
          <a:off x="2069497" y="4825516"/>
          <a:ext cx="8277991" cy="0"/>
        </a:xfrm>
        <a:prstGeom prst="line">
          <a:avLst/>
        </a:prstGeom>
        <a:solidFill>
          <a:schemeClr val="dk2">
            <a:hueOff val="0"/>
            <a:satOff val="0"/>
            <a:lumOff val="0"/>
            <a:alphaOff val="0"/>
          </a:schemeClr>
        </a:solidFill>
        <a:ln w="15875" cap="flat" cmpd="sng" algn="ctr">
          <a:solidFill>
            <a:schemeClr val="dk2">
              <a:tint val="50000"/>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diagrams.loki3.com/TabbedArc+Icon">
  <dgm:title val="Tabbed Arc"/>
  <dgm:desc val="Use to show a set of related items arcing over a common area.  Best with small amounts of text."/>
  <dgm:catLst>
    <dgm:cat type="relationship" pri="20500"/>
    <dgm:cat type="officeonline" pri="4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dir/>
      <dgm:resizeHandles val="exact"/>
    </dgm:varLst>
    <dgm:choose name="Name1">
      <dgm:if name="Name2" axis="ch" ptType="node" func="cnt" op="equ" val="1">
        <dgm:alg type="cycle"/>
      </dgm:if>
      <dgm:else name="Name3">
        <dgm:choose name="Name4">
          <dgm:if name="Name5" axis="ch" ptType="node" func="cnt" op="lte" val="3">
            <dgm:choose name="Name6">
              <dgm:if name="Name7" func="var" arg="dir" op="equ" val="norm">
                <dgm:alg type="cycle">
                  <dgm:param type="stAng" val="-40"/>
                  <dgm:param type="spanAng" val="80"/>
                  <dgm:param type="rotPath" val="alongPath"/>
                </dgm:alg>
              </dgm:if>
              <dgm:else name="Name8">
                <dgm:alg type="cycle">
                  <dgm:param type="stAng" val="40"/>
                  <dgm:param type="spanAng" val="-80"/>
                  <dgm:param type="rotPath" val="alongPath"/>
                </dgm:alg>
              </dgm:else>
            </dgm:choose>
          </dgm:if>
          <dgm:else name="Name9">
            <dgm:choose name="Name10">
              <dgm:if name="Name11" func="var" arg="dir" op="equ" val="norm">
                <dgm:alg type="cycle">
                  <dgm:param type="stAng" val="-60"/>
                  <dgm:param type="spanAng" val="120"/>
                  <dgm:param type="rotPath" val="alongPath"/>
                </dgm:alg>
              </dgm:if>
              <dgm:else name="Name12">
                <dgm:alg type="cycle">
                  <dgm:param type="stAng" val="60"/>
                  <dgm:param type="spanAng" val="-120"/>
                  <dgm:param type="rotPath" val="alongPath"/>
                </dgm:alg>
              </dgm:else>
            </dgm:choose>
          </dgm:else>
        </dgm:choose>
      </dgm:else>
    </dgm:choose>
    <dgm:shape xmlns:r="http://schemas.openxmlformats.org/officeDocument/2006/relationships" r:blip="">
      <dgm:adjLst/>
    </dgm:shape>
    <dgm:presOf/>
    <dgm:choose name="Name13">
      <dgm:if name="Name14" axis="ch" ptType="node" func="cnt" op="equ" val="2">
        <dgm:constrLst>
          <dgm:constr type="w" for="ch" ptType="node" refType="w"/>
          <dgm:constr type="primFontSz" for="ch" ptType="node" op="equ" val="65"/>
          <dgm:constr type="sibSp" refType="w" fact="0.22"/>
        </dgm:constrLst>
      </dgm:if>
      <dgm:else name="Name15">
        <dgm:constrLst>
          <dgm:constr type="w" for="ch" ptType="node" refType="w"/>
          <dgm:constr type="primFontSz" for="ch" ptType="node" op="equ" val="65"/>
          <dgm:constr type="sibSp" refType="w" fact="0.14"/>
        </dgm:constrLst>
      </dgm:else>
    </dgm:choose>
    <dgm:ruleLst/>
    <dgm:forEach name="Name16" axis="ch" ptType="node">
      <dgm:choose name="Name17">
        <dgm:if name="Name18" axis="par ch" ptType="doc node" func="cnt" op="equ" val="1">
          <dgm:layoutNode name="one">
            <dgm:varLst>
              <dgm:bulletEnabled val="1"/>
            </dgm:varLst>
            <dgm:alg type="tx"/>
            <dgm:shape xmlns:r="http://schemas.openxmlformats.org/officeDocument/2006/relationships" type="round2SameRect" r:blip="">
              <dgm:adjLst/>
            </dgm:shape>
            <dgm:presOf axis="desOrSelf" ptType="node"/>
            <dgm:constrLst>
              <dgm:constr type="h" refType="w" fact="0.65"/>
              <dgm:constr type="tMarg" refType="primFontSz" fact="0.1"/>
              <dgm:constr type="bMarg" refType="primFontSz" fact="0.1"/>
              <dgm:constr type="lMarg" refType="primFontSz" fact="0.3"/>
              <dgm:constr type="rMarg" refType="primFontSz" fact="0.3"/>
            </dgm:constrLst>
            <dgm:ruleLst>
              <dgm:rule type="primFontSz" val="5" fact="NaN" max="NaN"/>
            </dgm:ruleLst>
          </dgm:layoutNode>
        </dgm:if>
        <dgm:else name="Name19">
          <dgm:layoutNode name="twoplus">
            <dgm:varLst>
              <dgm:bulletEnabled val="1"/>
            </dgm:varLst>
            <dgm:alg type="tx">
              <dgm:param type="autoTxRot" val="grav"/>
            </dgm:alg>
            <dgm:shape xmlns:r="http://schemas.openxmlformats.org/officeDocument/2006/relationships" type="round2SameRect" r:blip="">
              <dgm:adjLst/>
            </dgm:shape>
            <dgm:presOf axis="desOrSelf" ptType="node"/>
            <dgm:constrLst>
              <dgm:constr type="h" refType="w" fact="0.65"/>
              <dgm:constr type="tMarg" refType="primFontSz" fact="0.1"/>
              <dgm:constr type="bMarg" refType="primFontSz" fact="0.1"/>
              <dgm:constr type="lMarg" refType="primFontSz" fact="0.3"/>
              <dgm:constr type="rMarg" refType="primFontSz" fact="0.3"/>
            </dgm:constrLst>
            <dgm:ruleLst>
              <dgm:rule type="primFontSz" val="5" fact="NaN" max="NaN"/>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44F9A2-889A-491F-9B82-F3A41E60AC55}" type="datetimeFigureOut">
              <a:rPr lang="en-US" smtClean="0"/>
              <a:t>5/20/2026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817140-4E93-4351-896D-0F0CB0FAAFC8}" type="slidenum">
              <a:rPr lang="en-US" smtClean="0"/>
              <a:t>‹#›</a:t>
            </a:fld>
            <a:endParaRPr lang="en-US"/>
          </a:p>
        </p:txBody>
      </p:sp>
    </p:spTree>
    <p:extLst>
      <p:ext uri="{BB962C8B-B14F-4D97-AF65-F5344CB8AC3E}">
        <p14:creationId xmlns:p14="http://schemas.microsoft.com/office/powerpoint/2010/main" val="2504792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817140-4E93-4351-896D-0F0CB0FAAFC8}" type="slidenum">
              <a:rPr lang="en-US" smtClean="0"/>
              <a:t>17</a:t>
            </a:fld>
            <a:endParaRPr lang="en-US"/>
          </a:p>
        </p:txBody>
      </p:sp>
    </p:spTree>
    <p:extLst>
      <p:ext uri="{BB962C8B-B14F-4D97-AF65-F5344CB8AC3E}">
        <p14:creationId xmlns:p14="http://schemas.microsoft.com/office/powerpoint/2010/main" val="26634423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E4ABBBA-14DB-44C7-BBFF-F0EFE7BF45EB}"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031598-7946-4690-ACB1-8358FA5A74E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20111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4ABBBA-14DB-44C7-BBFF-F0EFE7BF45EB}"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031598-7946-4690-ACB1-8358FA5A74E2}" type="slidenum">
              <a:rPr lang="en-US" smtClean="0"/>
              <a:t>‹#›</a:t>
            </a:fld>
            <a:endParaRPr lang="en-US"/>
          </a:p>
        </p:txBody>
      </p:sp>
    </p:spTree>
    <p:extLst>
      <p:ext uri="{BB962C8B-B14F-4D97-AF65-F5344CB8AC3E}">
        <p14:creationId xmlns:p14="http://schemas.microsoft.com/office/powerpoint/2010/main" val="32846404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4ABBBA-14DB-44C7-BBFF-F0EFE7BF45EB}"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031598-7946-4690-ACB1-8358FA5A74E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66881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E4ABBBA-14DB-44C7-BBFF-F0EFE7BF45EB}"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031598-7946-4690-ACB1-8358FA5A74E2}" type="slidenum">
              <a:rPr lang="en-US" smtClean="0"/>
              <a:t>‹#›</a:t>
            </a:fld>
            <a:endParaRPr lang="en-US"/>
          </a:p>
        </p:txBody>
      </p:sp>
    </p:spTree>
    <p:extLst>
      <p:ext uri="{BB962C8B-B14F-4D97-AF65-F5344CB8AC3E}">
        <p14:creationId xmlns:p14="http://schemas.microsoft.com/office/powerpoint/2010/main" val="2366609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E4ABBBA-14DB-44C7-BBFF-F0EFE7BF45EB}" type="datetimeFigureOut">
              <a:rPr lang="en-US" smtClean="0"/>
              <a:t>5/20/2026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031598-7946-4690-ACB1-8358FA5A74E2}" type="slidenum">
              <a:rPr lang="en-US" smtClean="0"/>
              <a:t>‹#›</a:t>
            </a:fld>
            <a:endParaRPr lang="en-US"/>
          </a:p>
        </p:txBody>
      </p:sp>
    </p:spTree>
    <p:extLst>
      <p:ext uri="{BB962C8B-B14F-4D97-AF65-F5344CB8AC3E}">
        <p14:creationId xmlns:p14="http://schemas.microsoft.com/office/powerpoint/2010/main" val="25262871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E4ABBBA-14DB-44C7-BBFF-F0EFE7BF45EB}" type="datetimeFigureOut">
              <a:rPr lang="en-US" smtClean="0"/>
              <a:t>5/20/2026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031598-7946-4690-ACB1-8358FA5A74E2}" type="slidenum">
              <a:rPr lang="en-US" smtClean="0"/>
              <a:t>‹#›</a:t>
            </a:fld>
            <a:endParaRPr lang="en-US"/>
          </a:p>
        </p:txBody>
      </p:sp>
    </p:spTree>
    <p:extLst>
      <p:ext uri="{BB962C8B-B14F-4D97-AF65-F5344CB8AC3E}">
        <p14:creationId xmlns:p14="http://schemas.microsoft.com/office/powerpoint/2010/main" val="2182146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Date Placeholder 6"/>
          <p:cNvSpPr>
            <a:spLocks noGrp="1"/>
          </p:cNvSpPr>
          <p:nvPr>
            <p:ph type="dt" sz="half" idx="10"/>
          </p:nvPr>
        </p:nvSpPr>
        <p:spPr/>
        <p:txBody>
          <a:bodyPr/>
          <a:lstStyle/>
          <a:p>
            <a:fld id="{2E4ABBBA-14DB-44C7-BBFF-F0EFE7BF45EB}" type="datetimeFigureOut">
              <a:rPr lang="en-US" smtClean="0"/>
              <a:t>5/20/2026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F031598-7946-4690-ACB1-8358FA5A74E2}" type="slidenum">
              <a:rPr lang="en-US" smtClean="0"/>
              <a:t>‹#›</a:t>
            </a:fld>
            <a:endParaRPr lang="en-US"/>
          </a:p>
        </p:txBody>
      </p:sp>
    </p:spTree>
    <p:extLst>
      <p:ext uri="{BB962C8B-B14F-4D97-AF65-F5344CB8AC3E}">
        <p14:creationId xmlns:p14="http://schemas.microsoft.com/office/powerpoint/2010/main" val="1018450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E4ABBBA-14DB-44C7-BBFF-F0EFE7BF45EB}" type="datetimeFigureOut">
              <a:rPr lang="en-US" smtClean="0"/>
              <a:t>5/20/2026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F031598-7946-4690-ACB1-8358FA5A74E2}" type="slidenum">
              <a:rPr lang="en-US" smtClean="0"/>
              <a:t>‹#›</a:t>
            </a:fld>
            <a:endParaRPr lang="en-US"/>
          </a:p>
        </p:txBody>
      </p:sp>
    </p:spTree>
    <p:extLst>
      <p:ext uri="{BB962C8B-B14F-4D97-AF65-F5344CB8AC3E}">
        <p14:creationId xmlns:p14="http://schemas.microsoft.com/office/powerpoint/2010/main" val="18374906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4ABBBA-14DB-44C7-BBFF-F0EFE7BF45EB}"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031598-7946-4690-ACB1-8358FA5A74E2}" type="slidenum">
              <a:rPr lang="en-US" smtClean="0"/>
              <a:t>‹#›</a:t>
            </a:fld>
            <a:endParaRPr lang="en-US"/>
          </a:p>
        </p:txBody>
      </p:sp>
    </p:spTree>
    <p:extLst>
      <p:ext uri="{BB962C8B-B14F-4D97-AF65-F5344CB8AC3E}">
        <p14:creationId xmlns:p14="http://schemas.microsoft.com/office/powerpoint/2010/main" val="22266734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4ABBBA-14DB-44C7-BBFF-F0EFE7BF45EB}"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031598-7946-4690-ACB1-8358FA5A74E2}" type="slidenum">
              <a:rPr lang="en-US" smtClean="0"/>
              <a:t>‹#›</a:t>
            </a:fld>
            <a:endParaRPr lang="en-US"/>
          </a:p>
        </p:txBody>
      </p:sp>
    </p:spTree>
    <p:extLst>
      <p:ext uri="{BB962C8B-B14F-4D97-AF65-F5344CB8AC3E}">
        <p14:creationId xmlns:p14="http://schemas.microsoft.com/office/powerpoint/2010/main" val="33328330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4ABBBA-14DB-44C7-BBFF-F0EFE7BF45EB}"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031598-7946-4690-ACB1-8358FA5A74E2}" type="slidenum">
              <a:rPr lang="en-US" smtClean="0"/>
              <a:t>‹#›</a:t>
            </a:fld>
            <a:endParaRPr lang="en-US"/>
          </a:p>
        </p:txBody>
      </p:sp>
    </p:spTree>
    <p:extLst>
      <p:ext uri="{BB962C8B-B14F-4D97-AF65-F5344CB8AC3E}">
        <p14:creationId xmlns:p14="http://schemas.microsoft.com/office/powerpoint/2010/main" val="9269224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2E4ABBBA-14DB-44C7-BBFF-F0EFE7BF45EB}" type="datetimeFigureOut">
              <a:rPr lang="en-US" smtClean="0"/>
              <a:t>5/20/2026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F031598-7946-4690-ACB1-8358FA5A74E2}"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4326971"/>
      </p:ext>
    </p:extLst>
  </p:cSld>
  <p:clrMap bg1="dk1" tx1="lt1" bg2="dk2" tx2="lt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blog.faradars.org/supervised-unsupervised-and-semi-supervised-learning/"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hyperlink" Target="https://www.geeksforgeeks.org/machine-learning/supervised-machine-learning/"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hyperlink" Target="https://www.geeksforgeeks.org/machine-learning/unsupervised-learning/"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45EA7-642A-FDE6-7F1B-C5635958ABDD}"/>
              </a:ext>
            </a:extLst>
          </p:cNvPr>
          <p:cNvSpPr>
            <a:spLocks noGrp="1"/>
          </p:cNvSpPr>
          <p:nvPr>
            <p:ph type="ctrTitle"/>
          </p:nvPr>
        </p:nvSpPr>
        <p:spPr>
          <a:xfrm>
            <a:off x="-1085481" y="687879"/>
            <a:ext cx="10058400" cy="1143000"/>
          </a:xfrm>
        </p:spPr>
        <p:txBody>
          <a:bodyPr/>
          <a:lstStyle/>
          <a:p>
            <a:pPr algn="ctr" rtl="1"/>
            <a:r>
              <a:rPr lang="en-US" dirty="0">
                <a:latin typeface="Bookman Old Style" panose="02050604050505020204" pitchFamily="18" charset="0"/>
              </a:rPr>
              <a:t>KNN</a:t>
            </a:r>
            <a:r>
              <a:rPr lang="en-US" sz="4000" dirty="0">
                <a:latin typeface="Bookman Old Style" panose="02050604050505020204" pitchFamily="18" charset="0"/>
              </a:rPr>
              <a:t>(</a:t>
            </a:r>
            <a:r>
              <a:rPr lang="en-US" sz="3600" b="1" dirty="0">
                <a:latin typeface="Bookman Old Style" panose="02050604050505020204" pitchFamily="18" charset="0"/>
              </a:rPr>
              <a:t>K Nearest Neighbors)</a:t>
            </a:r>
            <a:endParaRPr lang="en-US" sz="3600" dirty="0">
              <a:latin typeface="Bookman Old Style" panose="02050604050505020204" pitchFamily="18" charset="0"/>
            </a:endParaRPr>
          </a:p>
        </p:txBody>
      </p:sp>
      <p:sp>
        <p:nvSpPr>
          <p:cNvPr id="3" name="Subtitle 2">
            <a:extLst>
              <a:ext uri="{FF2B5EF4-FFF2-40B4-BE49-F238E27FC236}">
                <a16:creationId xmlns:a16="http://schemas.microsoft.com/office/drawing/2014/main" id="{98A5C0E0-4D9B-22AE-5861-0784FD1A2812}"/>
              </a:ext>
            </a:extLst>
          </p:cNvPr>
          <p:cNvSpPr>
            <a:spLocks noGrp="1"/>
          </p:cNvSpPr>
          <p:nvPr>
            <p:ph type="subTitle" idx="1"/>
          </p:nvPr>
        </p:nvSpPr>
        <p:spPr/>
        <p:txBody>
          <a:bodyPr>
            <a:normAutofit fontScale="92500" lnSpcReduction="20000"/>
          </a:bodyPr>
          <a:lstStyle/>
          <a:p>
            <a:pPr algn="r" rtl="1"/>
            <a:r>
              <a:rPr lang="fa-IR" sz="2000" spc="-150" dirty="0">
                <a:cs typeface="2  Mitra_2 (MRT)" panose="00000700000000000000" pitchFamily="2" charset="-78"/>
              </a:rPr>
              <a:t>دکتر مبصر                                   </a:t>
            </a:r>
          </a:p>
          <a:p>
            <a:pPr algn="r" rtl="1"/>
            <a:r>
              <a:rPr lang="fa-IR" sz="2000" spc="-150" dirty="0">
                <a:cs typeface="2  Mitra_2 (MRT)" panose="00000700000000000000" pitchFamily="2" charset="-78"/>
              </a:rPr>
              <a:t>هاتف جانعلی پور </a:t>
            </a:r>
          </a:p>
          <a:p>
            <a:pPr algn="r" rtl="1"/>
            <a:r>
              <a:rPr lang="fa-IR" sz="2000" spc="-150" dirty="0">
                <a:cs typeface="2  Mitra_2 (MRT)" panose="00000700000000000000" pitchFamily="2" charset="-78"/>
              </a:rPr>
              <a:t>درس هوش مصنوعی                                                                                                                                                                                             تاریخ (</a:t>
            </a:r>
            <a:r>
              <a:rPr lang="en-US" sz="2000" spc="-150" dirty="0">
                <a:cs typeface="2  Mitra_2 (MRT)" panose="00000700000000000000" pitchFamily="2" charset="-78"/>
              </a:rPr>
              <a:t>31/2/1405</a:t>
            </a:r>
            <a:r>
              <a:rPr lang="fa-IR" sz="2000" spc="-150" dirty="0">
                <a:cs typeface="2  Mitra_2 (MRT)" panose="00000700000000000000" pitchFamily="2" charset="-78"/>
              </a:rPr>
              <a:t>)</a:t>
            </a:r>
          </a:p>
          <a:p>
            <a:pPr algn="r" rtl="1"/>
            <a:endParaRPr lang="fa-IR" sz="2000" spc="-150" dirty="0">
              <a:cs typeface="2  Mitra_2 (MRT)" panose="00000700000000000000" pitchFamily="2" charset="-78"/>
            </a:endParaRPr>
          </a:p>
        </p:txBody>
      </p:sp>
    </p:spTree>
    <p:extLst>
      <p:ext uri="{BB962C8B-B14F-4D97-AF65-F5344CB8AC3E}">
        <p14:creationId xmlns:p14="http://schemas.microsoft.com/office/powerpoint/2010/main" val="4212793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fade">
                                      <p:cBhvr>
                                        <p:cTn id="28" dur="1000"/>
                                        <p:tgtEl>
                                          <p:spTgt spid="2"/>
                                        </p:tgtEl>
                                      </p:cBhvr>
                                    </p:animEffect>
                                    <p:anim calcmode="lin" valueType="num">
                                      <p:cBhvr>
                                        <p:cTn id="29" dur="1000" fill="hold"/>
                                        <p:tgtEl>
                                          <p:spTgt spid="2"/>
                                        </p:tgtEl>
                                        <p:attrNameLst>
                                          <p:attrName>ppt_x</p:attrName>
                                        </p:attrNameLst>
                                      </p:cBhvr>
                                      <p:tavLst>
                                        <p:tav tm="0">
                                          <p:val>
                                            <p:strVal val="#ppt_x"/>
                                          </p:val>
                                        </p:tav>
                                        <p:tav tm="100000">
                                          <p:val>
                                            <p:strVal val="#ppt_x"/>
                                          </p:val>
                                        </p:tav>
                                      </p:tavLst>
                                    </p:anim>
                                    <p:anim calcmode="lin" valueType="num">
                                      <p:cBhvr>
                                        <p:cTn id="30"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09B2249-A4DB-3A48-A848-4077FF8D421C}"/>
              </a:ext>
            </a:extLst>
          </p:cNvPr>
          <p:cNvSpPr/>
          <p:nvPr/>
        </p:nvSpPr>
        <p:spPr>
          <a:xfrm>
            <a:off x="1278193" y="1015180"/>
            <a:ext cx="9635613" cy="4382730"/>
          </a:xfrm>
          <a:prstGeom prst="rect">
            <a:avLst/>
          </a:prstGeom>
          <a:solidFill>
            <a:schemeClr val="bg1">
              <a:lumMod val="85000"/>
              <a:lumOff val="1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rtl="1"/>
            <a:r>
              <a:rPr lang="fa-IR" sz="3200" dirty="0">
                <a:cs typeface="2  Mitra_2 (MRT)" panose="00000700000000000000" pitchFamily="2" charset="-78"/>
              </a:rPr>
              <a:t>مقدمه ای بر ماشین لرنینگ</a:t>
            </a:r>
          </a:p>
          <a:p>
            <a:pPr algn="ctr" rtl="1"/>
            <a:endParaRPr lang="fa-IR" sz="3200" dirty="0">
              <a:cs typeface="2  Mitra_2 (MRT)" panose="00000700000000000000" pitchFamily="2" charset="-78"/>
            </a:endParaRPr>
          </a:p>
          <a:p>
            <a:pPr algn="r" rtl="1">
              <a:lnSpc>
                <a:spcPct val="150000"/>
              </a:lnSpc>
            </a:pPr>
            <a:r>
              <a:rPr lang="fa-IR" dirty="0"/>
              <a:t>در علم یادگیری ماشین (</a:t>
            </a:r>
            <a:r>
              <a:rPr lang="en-US" dirty="0"/>
              <a:t>Machine Learning</a:t>
            </a:r>
            <a:r>
              <a:rPr lang="fa-IR" dirty="0"/>
              <a:t>)</a:t>
            </a:r>
            <a:r>
              <a:rPr lang="en-US" dirty="0"/>
              <a:t>، </a:t>
            </a:r>
            <a:r>
              <a:rPr lang="fa-IR" dirty="0"/>
              <a:t>به موضوع طراحی ماشین‌هایی پرداخته می‌شود که با استفاده از مثال‌های داده شده به آن‌ها و تجربیات خودشان، بیاموزند. در واقع، در این علم تلاش می‌شود تا با بهره‌گیری از الگوریتم‌ها، یک ماشین به شکلی طراحی شود که بدون آنکه صراحتا برنامه‌ریزی و تک تک اقدامات به آن دیکته شود بتواند بیاموزد و عمل کند. در یادگیری ماشین، به جای برنامه‌نویسی همه چیز، داده‌ها به یک الگوریتم عمومی داده می‌شوند و این الگوریتم است که براساس داده‌هایی که به آن داده شده منطق خود را می‌سازد. یادگیری ماشین روش‌های گوناگونی دارد که از آن جمله می‌توان به یادگیری </a:t>
            </a:r>
            <a:r>
              <a:rPr lang="fa-IR" dirty="0">
                <a:hlinkClick r:id="rId2"/>
              </a:rPr>
              <a:t>نظارت شده، نظارت نشده و  یادگیری تقویتی</a:t>
            </a:r>
            <a:r>
              <a:rPr lang="fa-IR" dirty="0"/>
              <a:t> اشاره کرد. الگوریتم‌های مورد استفاده در یادگیری ماشین جزو این سه دسته هستند.</a:t>
            </a:r>
            <a:endParaRPr lang="en-US" sz="2000" dirty="0">
              <a:cs typeface="2  Mitra_2 (MRT)" panose="00000700000000000000" pitchFamily="2" charset="-78"/>
            </a:endParaRPr>
          </a:p>
        </p:txBody>
      </p:sp>
    </p:spTree>
    <p:extLst>
      <p:ext uri="{BB962C8B-B14F-4D97-AF65-F5344CB8AC3E}">
        <p14:creationId xmlns:p14="http://schemas.microsoft.com/office/powerpoint/2010/main" val="137464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4A13DD9-85AC-E877-67C4-6020C7A0BB6B}"/>
              </a:ext>
            </a:extLst>
          </p:cNvPr>
          <p:cNvSpPr/>
          <p:nvPr/>
        </p:nvSpPr>
        <p:spPr>
          <a:xfrm>
            <a:off x="235974" y="294967"/>
            <a:ext cx="11670891" cy="5624051"/>
          </a:xfrm>
          <a:prstGeom prst="rect">
            <a:avLst/>
          </a:prstGeom>
          <a:solidFill>
            <a:schemeClr val="bg1">
              <a:lumMod val="85000"/>
              <a:lumOff val="15000"/>
            </a:schemeClr>
          </a:solidFill>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t"/>
          <a:lstStyle/>
          <a:p>
            <a:pPr algn="ctr" rtl="1"/>
            <a:r>
              <a:rPr lang="fa-IR" sz="2800" b="1" dirty="0"/>
              <a:t>یادگیری نظارت‌شده </a:t>
            </a:r>
            <a:r>
              <a:rPr lang="en-US" sz="2800" b="1" dirty="0"/>
              <a:t>Supervised Learning)</a:t>
            </a:r>
            <a:r>
              <a:rPr lang="fa-IR" sz="2800" b="1" dirty="0"/>
              <a:t>)</a:t>
            </a:r>
            <a:endParaRPr lang="en-US" sz="2800" b="1" dirty="0"/>
          </a:p>
          <a:p>
            <a:pPr algn="r" rtl="1"/>
            <a:endParaRPr lang="fa-IR" dirty="0"/>
          </a:p>
          <a:p>
            <a:pPr algn="r" rtl="1"/>
            <a:endParaRPr lang="fa-IR" dirty="0"/>
          </a:p>
          <a:p>
            <a:pPr algn="r" rtl="1"/>
            <a:r>
              <a:rPr lang="fa-IR" dirty="0">
                <a:cs typeface="2  Mitra_2 (MRT)" panose="00000700000000000000" pitchFamily="2" charset="-78"/>
              </a:rPr>
              <a:t>اغلب روش‌های یادگیری ماشین از </a:t>
            </a:r>
            <a:r>
              <a:rPr lang="fa-IR" dirty="0">
                <a:cs typeface="2  Mitra_2 (MRT)" panose="00000700000000000000" pitchFamily="2" charset="-78"/>
                <a:hlinkClick r:id="rId2"/>
              </a:rPr>
              <a:t>یادگیری نظارت شده </a:t>
            </a:r>
            <a:r>
              <a:rPr lang="fa-IR" dirty="0">
                <a:cs typeface="2  Mitra_2 (MRT)" panose="00000700000000000000" pitchFamily="2" charset="-78"/>
              </a:rPr>
              <a:t>استفاده می‌کنند. در یادگیری ماشین نظارت شده، سیستم تلاش می‌کند تا از نمونه‌های پیشینی بیاموزد که در اختیار آن قرار گرفته. به عبارت دیگر، در این نوع یادگیری، سیستم تلاش می‌کند تا الگوها را بر اساس مثال‌های داده شده به آن فرا بگیرد.</a:t>
            </a:r>
          </a:p>
          <a:p>
            <a:pPr algn="r" rtl="1"/>
            <a:r>
              <a:rPr lang="fa-IR" dirty="0">
                <a:cs typeface="2  Mitra_2 (MRT)" panose="00000700000000000000" pitchFamily="2" charset="-78"/>
              </a:rPr>
              <a:t>داده‌های آموزشی شامل </a:t>
            </a:r>
            <a:r>
              <a:rPr lang="fa-IR" b="1" dirty="0">
                <a:cs typeface="2  Mitra_2 (MRT)" panose="00000700000000000000" pitchFamily="2" charset="-78"/>
              </a:rPr>
              <a:t>ورودی (ویژگی‌ها)</a:t>
            </a:r>
            <a:r>
              <a:rPr lang="fa-IR" dirty="0">
                <a:cs typeface="2  Mitra_2 (MRT)" panose="00000700000000000000" pitchFamily="2" charset="-78"/>
              </a:rPr>
              <a:t> و </a:t>
            </a:r>
            <a:r>
              <a:rPr lang="fa-IR" b="1" dirty="0">
                <a:cs typeface="2  Mitra_2 (MRT)" panose="00000700000000000000" pitchFamily="2" charset="-78"/>
              </a:rPr>
              <a:t>خروجی صحیح (برچسب یا مقدار هدف)</a:t>
            </a:r>
            <a:r>
              <a:rPr lang="fa-IR" dirty="0">
                <a:cs typeface="2  Mitra_2 (MRT)" panose="00000700000000000000" pitchFamily="2" charset="-78"/>
              </a:rPr>
              <a:t> هستند. مدل یاد می‌گیرد که نگاشت ورودی به خروجی را پیدا کند.</a:t>
            </a:r>
          </a:p>
          <a:p>
            <a:pPr algn="r" rtl="1"/>
            <a:br>
              <a:rPr lang="fa-IR" b="1" dirty="0">
                <a:cs typeface="2  Mitra_2 (MRT)" panose="00000700000000000000" pitchFamily="2" charset="-78"/>
              </a:rPr>
            </a:br>
            <a:r>
              <a:rPr lang="fa-IR" b="1" dirty="0">
                <a:cs typeface="2  Mitra_2 (MRT)" panose="00000700000000000000" pitchFamily="2" charset="-78"/>
              </a:rPr>
              <a:t>زیرشاخه‌ها:</a:t>
            </a:r>
            <a:endParaRPr lang="fa-IR" dirty="0">
              <a:cs typeface="2  Mitra_2 (MRT)" panose="00000700000000000000" pitchFamily="2" charset="-78"/>
            </a:endParaRPr>
          </a:p>
          <a:p>
            <a:pPr marL="285750" indent="-285750" algn="r" rtl="1">
              <a:buFont typeface="Arial" panose="020B0604020202020204" pitchFamily="34" charset="0"/>
              <a:buChar char="•"/>
            </a:pPr>
            <a:r>
              <a:rPr lang="fa-IR" b="1" dirty="0">
                <a:cs typeface="2  Mitra_2 (MRT)" panose="00000700000000000000" pitchFamily="2" charset="-78"/>
              </a:rPr>
              <a:t>طبقه‌بندی (</a:t>
            </a:r>
            <a:r>
              <a:rPr lang="en-US" b="1" dirty="0">
                <a:cs typeface="2  Mitra_2 (MRT)" panose="00000700000000000000" pitchFamily="2" charset="-78"/>
              </a:rPr>
              <a:t>Classification</a:t>
            </a:r>
            <a:r>
              <a:rPr lang="en-US" dirty="0">
                <a:cs typeface="2  Mitra_2 (MRT)" panose="00000700000000000000" pitchFamily="2" charset="-78"/>
              </a:rPr>
              <a:t> </a:t>
            </a:r>
            <a:r>
              <a:rPr lang="fa-IR" dirty="0">
                <a:cs typeface="2  Mitra_2 (MRT)" panose="00000700000000000000" pitchFamily="2" charset="-78"/>
              </a:rPr>
              <a:t>): خروجی گسسته (مثل تشخیص اسپم/غیر اسپم، نوع گل).</a:t>
            </a:r>
          </a:p>
          <a:p>
            <a:pPr marL="285750" indent="-285750" algn="r" rtl="1">
              <a:buFont typeface="Arial" panose="020B0604020202020204" pitchFamily="34" charset="0"/>
              <a:buChar char="•"/>
            </a:pPr>
            <a:r>
              <a:rPr lang="fa-IR" b="1" dirty="0">
                <a:cs typeface="2  Mitra_2 (MRT)" panose="00000700000000000000" pitchFamily="2" charset="-78"/>
              </a:rPr>
              <a:t>رگرسیون</a:t>
            </a:r>
            <a:r>
              <a:rPr lang="en-US" b="1" dirty="0">
                <a:cs typeface="2  Mitra_2 (MRT)" panose="00000700000000000000" pitchFamily="2" charset="-78"/>
              </a:rPr>
              <a:t>Regression)</a:t>
            </a:r>
            <a:r>
              <a:rPr lang="en-US" dirty="0">
                <a:cs typeface="2  Mitra_2 (MRT)" panose="00000700000000000000" pitchFamily="2" charset="-78"/>
              </a:rPr>
              <a:t> </a:t>
            </a:r>
            <a:r>
              <a:rPr lang="fa-IR" dirty="0">
                <a:cs typeface="2  Mitra_2 (MRT)" panose="00000700000000000000" pitchFamily="2" charset="-78"/>
              </a:rPr>
              <a:t>): خروجی پیوسته (مثل پیش‌بینی قیمت خانه، دما).</a:t>
            </a:r>
          </a:p>
          <a:p>
            <a:pPr algn="r" rtl="1"/>
            <a:endParaRPr lang="fa-IR" b="1" dirty="0">
              <a:cs typeface="2  Mitra_2 (MRT)" panose="00000700000000000000" pitchFamily="2" charset="-78"/>
            </a:endParaRPr>
          </a:p>
          <a:p>
            <a:pPr algn="r" rtl="1"/>
            <a:r>
              <a:rPr lang="fa-IR" b="1" dirty="0">
                <a:cs typeface="2  Mitra_2 (MRT)" panose="00000700000000000000" pitchFamily="2" charset="-78"/>
              </a:rPr>
              <a:t>الگوریتم‌های معروف:</a:t>
            </a:r>
          </a:p>
          <a:p>
            <a:pPr algn="r" rtl="1"/>
            <a:br>
              <a:rPr lang="fa-IR" dirty="0">
                <a:cs typeface="2  Mitra_2 (MRT)" panose="00000700000000000000" pitchFamily="2" charset="-78"/>
              </a:rPr>
            </a:br>
            <a:r>
              <a:rPr lang="en-US" dirty="0">
                <a:cs typeface="2  Mitra_2 (MRT)" panose="00000700000000000000" pitchFamily="2" charset="-78"/>
              </a:rPr>
              <a:t>KNN، </a:t>
            </a:r>
            <a:r>
              <a:rPr lang="fa-IR" dirty="0">
                <a:cs typeface="2  Mitra_2 (MRT)" panose="00000700000000000000" pitchFamily="2" charset="-78"/>
              </a:rPr>
              <a:t>رگرسیون خطی، درخت تصمیم، جنگل تصادفی، </a:t>
            </a:r>
            <a:r>
              <a:rPr lang="en-US" dirty="0">
                <a:cs typeface="2  Mitra_2 (MRT)" panose="00000700000000000000" pitchFamily="2" charset="-78"/>
              </a:rPr>
              <a:t>SVM، </a:t>
            </a:r>
            <a:r>
              <a:rPr lang="fa-IR" dirty="0">
                <a:cs typeface="2  Mitra_2 (MRT)" panose="00000700000000000000" pitchFamily="2" charset="-78"/>
              </a:rPr>
              <a:t>شبکه عصبی.</a:t>
            </a:r>
          </a:p>
          <a:p>
            <a:pPr algn="r" rtl="1"/>
            <a:endParaRPr lang="en-US" b="1" dirty="0">
              <a:cs typeface="2  Mitra_2 (MRT)" panose="00000700000000000000" pitchFamily="2" charset="-78"/>
            </a:endParaRPr>
          </a:p>
          <a:p>
            <a:pPr algn="r" rtl="1"/>
            <a:r>
              <a:rPr lang="fa-IR" b="1" dirty="0">
                <a:cs typeface="2  Mitra_2 (MRT)" panose="00000700000000000000" pitchFamily="2" charset="-78"/>
              </a:rPr>
              <a:t>مثال عملی:</a:t>
            </a:r>
            <a:br>
              <a:rPr lang="fa-IR" dirty="0">
                <a:cs typeface="2  Mitra_2 (MRT)" panose="00000700000000000000" pitchFamily="2" charset="-78"/>
              </a:rPr>
            </a:br>
            <a:r>
              <a:rPr lang="fa-IR" dirty="0">
                <a:cs typeface="2  Mitra_2 (MRT)" panose="00000700000000000000" pitchFamily="2" charset="-78"/>
              </a:rPr>
              <a:t>پیش‌بینی اینکه فردا باران می‌بارد یا نه (طبقه‌بندی) – یا مقدار دقیق بارش (رگرسیون).</a:t>
            </a:r>
          </a:p>
          <a:p>
            <a:pPr algn="r" rtl="1"/>
            <a:endParaRPr lang="en-US" dirty="0"/>
          </a:p>
        </p:txBody>
      </p:sp>
    </p:spTree>
    <p:extLst>
      <p:ext uri="{BB962C8B-B14F-4D97-AF65-F5344CB8AC3E}">
        <p14:creationId xmlns:p14="http://schemas.microsoft.com/office/powerpoint/2010/main" val="3067445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2C5EE06-AA34-6EE1-A58C-C1F66F0BC513}"/>
              </a:ext>
            </a:extLst>
          </p:cNvPr>
          <p:cNvSpPr/>
          <p:nvPr/>
        </p:nvSpPr>
        <p:spPr>
          <a:xfrm>
            <a:off x="3256156" y="153241"/>
            <a:ext cx="8829009" cy="2456144"/>
          </a:xfrm>
          <a:prstGeom prst="rect">
            <a:avLst/>
          </a:prstGeom>
          <a:solidFill>
            <a:schemeClr val="bg1">
              <a:lumMod val="85000"/>
              <a:lumOff val="1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r>
              <a:rPr lang="fa-IR" dirty="0">
                <a:cs typeface="2  Mitra_2 (MRT)" panose="00000700000000000000" pitchFamily="2" charset="-78"/>
              </a:rPr>
              <a:t>مواردی مانند وضعیت هوا شامل ابری بودن یا نبودن، آفتابی بودن یا نبودن، وجود یا عدم وجود مه، بارش یا عدم بارش باران و تاریخ بازی از جمله ویژگی‌هایی هستند که وضعیت یک مسابقه فوتبال را توصیف می‌کنند. حال اگر در این مجموعه داده به عنوان مثال، ستونی وجود داشته باشد که مشخص کند برای هر نمونه داده در شرایط جوی موجود برای آن نمونه خاص بازی فوتبال انجام شده یا نشده (برچسب‌ها) اصطلاحا می‌گوییم مجموعه داده برچسب‌دار است. اگر آموزش الگوریتم از چنین مجموعه داده‌ای استفاده شود و به آن آموخته شود که بر اساس نمونه داده‌هایی که وضعیت آن‌ها مشخص است (بازی فوتبال انجام شده یا نشده)، درباره نمونه داده‌هایی که وضعیت آن‌ها نامشخص است تصمیم‌گیری کند، اصطلاحا گفته می‌شود یادگیری ماشین نظارت شده است.</a:t>
            </a:r>
            <a:endParaRPr lang="en-US" dirty="0">
              <a:cs typeface="2  Mitra_2 (MRT)" panose="00000700000000000000" pitchFamily="2" charset="-78"/>
            </a:endParaRPr>
          </a:p>
        </p:txBody>
      </p:sp>
      <p:pic>
        <p:nvPicPr>
          <p:cNvPr id="5" name="Picture 4">
            <a:extLst>
              <a:ext uri="{FF2B5EF4-FFF2-40B4-BE49-F238E27FC236}">
                <a16:creationId xmlns:a16="http://schemas.microsoft.com/office/drawing/2014/main" id="{EA27008B-B642-8242-A4CC-8FDE2B19FA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2811" y="2904472"/>
            <a:ext cx="8924213" cy="317581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692995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EC48E4-9DC2-9B37-F5B9-0A81BB3684AB}"/>
              </a:ext>
            </a:extLst>
          </p:cNvPr>
          <p:cNvSpPr/>
          <p:nvPr/>
        </p:nvSpPr>
        <p:spPr>
          <a:xfrm>
            <a:off x="481781" y="658761"/>
            <a:ext cx="11159613" cy="5565058"/>
          </a:xfrm>
          <a:prstGeom prst="rect">
            <a:avLst/>
          </a:prstGeom>
          <a:solidFill>
            <a:schemeClr val="bg1">
              <a:lumMod val="85000"/>
              <a:lumOff val="15000"/>
            </a:schemeClr>
          </a:solidFill>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t"/>
          <a:lstStyle/>
          <a:p>
            <a:pPr algn="r" rtl="1"/>
            <a:endParaRPr lang="fa-IR" dirty="0"/>
          </a:p>
          <a:p>
            <a:pPr algn="r" rtl="1"/>
            <a:endParaRPr lang="fa-IR" dirty="0"/>
          </a:p>
          <a:p>
            <a:pPr algn="ctr" rtl="1"/>
            <a:r>
              <a:rPr lang="fa-IR" sz="2800" b="1" dirty="0">
                <a:cs typeface="2  Mitra_2 (MRT)" panose="00000700000000000000" pitchFamily="2" charset="-78"/>
              </a:rPr>
              <a:t>یادگیری بدون نظارت (</a:t>
            </a:r>
            <a:r>
              <a:rPr lang="en-US" sz="2800" b="1" dirty="0">
                <a:cs typeface="2  Mitra_2 (MRT)" panose="00000700000000000000" pitchFamily="2" charset="-78"/>
              </a:rPr>
              <a:t>Unsupervised Learning</a:t>
            </a:r>
            <a:r>
              <a:rPr lang="fa-IR" sz="2800" b="1" dirty="0">
                <a:cs typeface="2  Mitra_2 (MRT)" panose="00000700000000000000" pitchFamily="2" charset="-78"/>
              </a:rPr>
              <a:t>)</a:t>
            </a:r>
            <a:endParaRPr lang="en-US" sz="2800" b="1" dirty="0">
              <a:cs typeface="2  Mitra_2 (MRT)" panose="00000700000000000000" pitchFamily="2" charset="-78"/>
            </a:endParaRPr>
          </a:p>
          <a:p>
            <a:pPr algn="ctr" rtl="1"/>
            <a:endParaRPr lang="fa-IR" dirty="0">
              <a:cs typeface="2  Mitra_2 (MRT)" panose="00000700000000000000" pitchFamily="2" charset="-78"/>
            </a:endParaRPr>
          </a:p>
          <a:p>
            <a:pPr algn="r" rtl="1"/>
            <a:r>
              <a:rPr lang="fa-IR" dirty="0">
                <a:cs typeface="2  Mitra_2 (MRT)" panose="00000700000000000000" pitchFamily="2" charset="-78"/>
              </a:rPr>
              <a:t>در یادگیری </a:t>
            </a:r>
            <a:r>
              <a:rPr lang="fa-IR" dirty="0">
                <a:cs typeface="2  Mitra_2 (MRT)" panose="00000700000000000000" pitchFamily="2" charset="-78"/>
                <a:hlinkClick r:id="rId2"/>
              </a:rPr>
              <a:t>نظارت نشده</a:t>
            </a:r>
            <a:r>
              <a:rPr lang="fa-IR" dirty="0">
                <a:cs typeface="2  Mitra_2 (MRT)" panose="00000700000000000000" pitchFamily="2" charset="-78"/>
              </a:rPr>
              <a:t>، الگوریتم باید خود به تنهایی به‌دنبال ساختارهای جالب موجود در داده‌ها باشد. به بیان ریاضی، یادگیری نظارت نشده مربوط به زمانی است که در مجموعه داده فقط متغیرهای ورودی (</a:t>
            </a:r>
            <a:r>
              <a:rPr lang="en-US" dirty="0">
                <a:cs typeface="2  Mitra_2 (MRT)" panose="00000700000000000000" pitchFamily="2" charset="-78"/>
              </a:rPr>
              <a:t>X) </a:t>
            </a:r>
            <a:r>
              <a:rPr lang="fa-IR" dirty="0">
                <a:cs typeface="2  Mitra_2 (MRT)" panose="00000700000000000000" pitchFamily="2" charset="-78"/>
              </a:rPr>
              <a:t>وجود داشته باشند و هیچ متغیر داده خروجی موجود نباشد. به این نوع یادگیری، نظارت نشده گفته می‌شود زیرا برخلاف یادگیری نظارت شده، هیچ پاسخ صحیح داده شده‌ای وجود ندارد و ماشین خود باید به دنبال پاسخ باشد. به بیان دیگر، هنگامی که الگوریتم برای کار کردن از مجموعه داده‌ای بهره گیرد که فاقد داده‌های برچسب‌دار (متغیرهای خروجی) است، از مکانیزم دیگری برای یادگیری و تصمیم‌گیری استفاده می‌کند. به چنین نوع یادگیری، نظارت نشده گفته می‌شود. یادگیری نظارت نشده قابل تقسیم به مسائل خوشه‌بندی و انجمنی است.</a:t>
            </a:r>
            <a:endParaRPr lang="en-US" dirty="0">
              <a:cs typeface="2  Mitra_2 (MRT)" panose="00000700000000000000" pitchFamily="2" charset="-78"/>
            </a:endParaRPr>
          </a:p>
          <a:p>
            <a:pPr algn="r" rtl="1"/>
            <a:endParaRPr lang="en-US" dirty="0">
              <a:cs typeface="2  Mitra_2 (MRT)" panose="00000700000000000000" pitchFamily="2" charset="-78"/>
            </a:endParaRPr>
          </a:p>
          <a:p>
            <a:pPr algn="r" rtl="1"/>
            <a:r>
              <a:rPr lang="fa-IR" b="1" dirty="0">
                <a:cs typeface="2  Mitra_2 (MRT)" panose="00000700000000000000" pitchFamily="2" charset="-78"/>
              </a:rPr>
              <a:t>خوشه‌بندی </a:t>
            </a:r>
            <a:r>
              <a:rPr lang="en-US" b="1" dirty="0">
                <a:cs typeface="2  Mitra_2 (MRT)" panose="00000700000000000000" pitchFamily="2" charset="-78"/>
              </a:rPr>
              <a:t> : (Clustering)</a:t>
            </a:r>
            <a:r>
              <a:rPr lang="en-US" dirty="0">
                <a:cs typeface="2  Mitra_2 (MRT)" panose="00000700000000000000" pitchFamily="2" charset="-78"/>
              </a:rPr>
              <a:t> </a:t>
            </a:r>
            <a:r>
              <a:rPr lang="fa-IR" dirty="0">
                <a:cs typeface="2  Mitra_2 (MRT)" panose="00000700000000000000" pitchFamily="2" charset="-78"/>
              </a:rPr>
              <a:t>گروه‌بندی داده‌های مشابه (مثل دسته‌بندی مشتریان بر اساس رفتار).</a:t>
            </a:r>
          </a:p>
          <a:p>
            <a:pPr algn="r" rtl="1"/>
            <a:r>
              <a:rPr lang="fa-IR" b="1" dirty="0">
                <a:cs typeface="2  Mitra_2 (MRT)" panose="00000700000000000000" pitchFamily="2" charset="-78"/>
              </a:rPr>
              <a:t>کاهش ابعاد (</a:t>
            </a:r>
            <a:r>
              <a:rPr lang="en-US" b="1" dirty="0">
                <a:cs typeface="2  Mitra_2 (MRT)" panose="00000700000000000000" pitchFamily="2" charset="-78"/>
              </a:rPr>
              <a:t> : (Dimensionality Reduction</a:t>
            </a:r>
            <a:r>
              <a:rPr lang="fa-IR" dirty="0">
                <a:cs typeface="2  Mitra_2 (MRT)" panose="00000700000000000000" pitchFamily="2" charset="-78"/>
              </a:rPr>
              <a:t>فشرده‌سازی داده با حفظ اطلاعات مهم (مثل </a:t>
            </a:r>
            <a:r>
              <a:rPr lang="en-US" dirty="0">
                <a:cs typeface="2  Mitra_2 (MRT)" panose="00000700000000000000" pitchFamily="2" charset="-78"/>
              </a:rPr>
              <a:t>PCA، (t-SNE</a:t>
            </a:r>
          </a:p>
          <a:p>
            <a:pPr algn="r" rtl="1"/>
            <a:r>
              <a:rPr lang="fa-IR" b="1" dirty="0">
                <a:cs typeface="2  Mitra_2 (MRT)" panose="00000700000000000000" pitchFamily="2" charset="-78"/>
              </a:rPr>
              <a:t>یافتن قاعده همبستگی (</a:t>
            </a:r>
            <a:r>
              <a:rPr lang="en-US" b="1" dirty="0">
                <a:cs typeface="2  Mitra_2 (MRT)" panose="00000700000000000000" pitchFamily="2" charset="-78"/>
              </a:rPr>
              <a:t> : (Association Rule</a:t>
            </a:r>
            <a:r>
              <a:rPr lang="fa-IR" dirty="0">
                <a:cs typeface="2  Mitra_2 (MRT)" panose="00000700000000000000" pitchFamily="2" charset="-78"/>
              </a:rPr>
              <a:t>کشف روابط بین ویژگی‌ها (مثل «کسانی که نان می‌خرند، کره هم می‌خرند»).</a:t>
            </a:r>
          </a:p>
          <a:p>
            <a:pPr algn="r" rtl="1"/>
            <a:r>
              <a:rPr lang="fa-IR" b="1" dirty="0">
                <a:cs typeface="2  Mitra_2 (MRT)" panose="00000700000000000000" pitchFamily="2" charset="-78"/>
              </a:rPr>
              <a:t>الگوریتم‌های معروف:</a:t>
            </a:r>
            <a:br>
              <a:rPr lang="fa-IR" dirty="0">
                <a:cs typeface="2  Mitra_2 (MRT)" panose="00000700000000000000" pitchFamily="2" charset="-78"/>
              </a:rPr>
            </a:br>
            <a:r>
              <a:rPr lang="en-US" dirty="0">
                <a:cs typeface="2  Mitra_2 (MRT)" panose="00000700000000000000" pitchFamily="2" charset="-78"/>
              </a:rPr>
              <a:t>K-Means، DBSCAN، PCA، </a:t>
            </a:r>
            <a:r>
              <a:rPr lang="en-US" dirty="0" err="1">
                <a:cs typeface="2  Mitra_2 (MRT)" panose="00000700000000000000" pitchFamily="2" charset="-78"/>
              </a:rPr>
              <a:t>Apriori</a:t>
            </a:r>
            <a:r>
              <a:rPr lang="en-US" dirty="0">
                <a:cs typeface="2  Mitra_2 (MRT)" panose="00000700000000000000" pitchFamily="2" charset="-78"/>
              </a:rPr>
              <a:t>، Autoencoder.</a:t>
            </a:r>
          </a:p>
          <a:p>
            <a:pPr algn="r" rtl="1"/>
            <a:r>
              <a:rPr lang="fa-IR" b="1" dirty="0">
                <a:cs typeface="2  Mitra_2 (MRT)" panose="00000700000000000000" pitchFamily="2" charset="-78"/>
              </a:rPr>
              <a:t>مثال عملی:</a:t>
            </a:r>
            <a:br>
              <a:rPr lang="fa-IR" dirty="0">
                <a:cs typeface="2  Mitra_2 (MRT)" panose="00000700000000000000" pitchFamily="2" charset="-78"/>
              </a:rPr>
            </a:br>
            <a:r>
              <a:rPr lang="fa-IR" dirty="0">
                <a:cs typeface="2  Mitra_2 (MRT)" panose="00000700000000000000" pitchFamily="2" charset="-78"/>
              </a:rPr>
              <a:t>دسته‌بندی اخبار بدون برچسب به گروه‌های موضوعی (ورزش، سیاست، فناوری).</a:t>
            </a:r>
          </a:p>
          <a:p>
            <a:pPr algn="r" rtl="1"/>
            <a:br>
              <a:rPr lang="fa-IR" dirty="0"/>
            </a:br>
            <a:endParaRPr lang="en-US" dirty="0"/>
          </a:p>
        </p:txBody>
      </p:sp>
    </p:spTree>
    <p:extLst>
      <p:ext uri="{BB962C8B-B14F-4D97-AF65-F5344CB8AC3E}">
        <p14:creationId xmlns:p14="http://schemas.microsoft.com/office/powerpoint/2010/main" val="369506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32967AC-18F4-D4D1-08D4-7F21B5D49DF3}"/>
              </a:ext>
            </a:extLst>
          </p:cNvPr>
          <p:cNvSpPr/>
          <p:nvPr/>
        </p:nvSpPr>
        <p:spPr>
          <a:xfrm>
            <a:off x="7364360" y="216308"/>
            <a:ext cx="4660491" cy="5742039"/>
          </a:xfrm>
          <a:prstGeom prst="rect">
            <a:avLst/>
          </a:prstGeom>
          <a:solidFill>
            <a:schemeClr val="bg1">
              <a:lumMod val="85000"/>
              <a:lumOff val="1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r" rtl="1"/>
            <a:endParaRPr lang="en-US" dirty="0"/>
          </a:p>
          <a:p>
            <a:pPr marL="285750" indent="-285750" algn="r" rtl="1">
              <a:buFont typeface="Arial" panose="020B0604020202020204" pitchFamily="34" charset="0"/>
              <a:buChar char="•"/>
            </a:pPr>
            <a:r>
              <a:rPr lang="fa-IR" b="1" dirty="0">
                <a:cs typeface="2  Mitra_2 (MRT)" panose="00000700000000000000" pitchFamily="2" charset="-78"/>
              </a:rPr>
              <a:t>خوشه‌بندی </a:t>
            </a:r>
            <a:r>
              <a:rPr lang="en-US" b="1" dirty="0">
                <a:cs typeface="2  Mitra_2 (MRT)" panose="00000700000000000000" pitchFamily="2" charset="-78"/>
              </a:rPr>
              <a:t> : (Clustering)</a:t>
            </a:r>
            <a:r>
              <a:rPr lang="en-US" dirty="0">
                <a:cs typeface="2  Mitra_2 (MRT)" panose="00000700000000000000" pitchFamily="2" charset="-78"/>
              </a:rPr>
              <a:t> </a:t>
            </a:r>
            <a:r>
              <a:rPr lang="fa-IR" dirty="0">
                <a:cs typeface="2  Mitra_2 (MRT)" panose="00000700000000000000" pitchFamily="2" charset="-78"/>
              </a:rPr>
              <a:t>گروه‌بندی داده‌های مشابه (مثل دسته‌بندی مشتریان بر اساس رفتار).</a:t>
            </a:r>
            <a:endParaRPr lang="en-US" dirty="0">
              <a:cs typeface="2  Mitra_2 (MRT)" panose="00000700000000000000" pitchFamily="2" charset="-78"/>
            </a:endParaRPr>
          </a:p>
          <a:p>
            <a:pPr marL="285750" indent="-285750" algn="r" rtl="1">
              <a:buFont typeface="Arial" panose="020B0604020202020204" pitchFamily="34" charset="0"/>
              <a:buChar char="•"/>
            </a:pPr>
            <a:endParaRPr lang="fa-IR" dirty="0">
              <a:cs typeface="2  Mitra_2 (MRT)" panose="00000700000000000000" pitchFamily="2" charset="-78"/>
            </a:endParaRPr>
          </a:p>
          <a:p>
            <a:pPr marL="285750" indent="-285750" algn="r" rtl="1">
              <a:buFont typeface="Arial" panose="020B0604020202020204" pitchFamily="34" charset="0"/>
              <a:buChar char="•"/>
            </a:pPr>
            <a:r>
              <a:rPr lang="fa-IR" b="1" dirty="0">
                <a:cs typeface="2  Mitra_2 (MRT)" panose="00000700000000000000" pitchFamily="2" charset="-78"/>
              </a:rPr>
              <a:t>کاهش ابعاد (</a:t>
            </a:r>
            <a:r>
              <a:rPr lang="en-US" b="1" dirty="0">
                <a:cs typeface="2  Mitra_2 (MRT)" panose="00000700000000000000" pitchFamily="2" charset="-78"/>
              </a:rPr>
              <a:t> : (Dimensionality Reduction</a:t>
            </a:r>
            <a:r>
              <a:rPr lang="fa-IR" dirty="0">
                <a:cs typeface="2  Mitra_2 (MRT)" panose="00000700000000000000" pitchFamily="2" charset="-78"/>
              </a:rPr>
              <a:t>فشرده‌سازی داده با حفظ اطلاعات مهم (مثل </a:t>
            </a:r>
            <a:r>
              <a:rPr lang="en-US" dirty="0">
                <a:cs typeface="2  Mitra_2 (MRT)" panose="00000700000000000000" pitchFamily="2" charset="-78"/>
              </a:rPr>
              <a:t>PCA، t-SNE).</a:t>
            </a:r>
          </a:p>
          <a:p>
            <a:pPr algn="r" rtl="1"/>
            <a:endParaRPr lang="en-US" b="1" dirty="0">
              <a:cs typeface="2  Mitra_2 (MRT)" panose="00000700000000000000" pitchFamily="2" charset="-78"/>
            </a:endParaRPr>
          </a:p>
          <a:p>
            <a:pPr marL="285750" indent="-285750" algn="r" rtl="1">
              <a:buFont typeface="Arial" panose="020B0604020202020204" pitchFamily="34" charset="0"/>
              <a:buChar char="•"/>
            </a:pPr>
            <a:r>
              <a:rPr lang="fa-IR" b="1" dirty="0">
                <a:cs typeface="2  Mitra_2 (MRT)" panose="00000700000000000000" pitchFamily="2" charset="-78"/>
              </a:rPr>
              <a:t>یافتن قاعده همبستگی (</a:t>
            </a:r>
            <a:r>
              <a:rPr lang="en-US" b="1" dirty="0">
                <a:cs typeface="2  Mitra_2 (MRT)" panose="00000700000000000000" pitchFamily="2" charset="-78"/>
              </a:rPr>
              <a:t> : (Association Rule</a:t>
            </a:r>
            <a:r>
              <a:rPr lang="fa-IR" dirty="0">
                <a:cs typeface="2  Mitra_2 (MRT)" panose="00000700000000000000" pitchFamily="2" charset="-78"/>
              </a:rPr>
              <a:t>کشف روابط بین ویژگی‌ها (مثل «کسانی که نان می‌خرند، کره هم می‌خرند»).</a:t>
            </a:r>
          </a:p>
          <a:p>
            <a:pPr algn="r" rtl="1"/>
            <a:endParaRPr lang="en-US" b="1" dirty="0">
              <a:cs typeface="2  Mitra_2 (MRT)" panose="00000700000000000000" pitchFamily="2" charset="-78"/>
            </a:endParaRPr>
          </a:p>
          <a:p>
            <a:pPr algn="r" rtl="1"/>
            <a:endParaRPr lang="en-US" b="1" dirty="0">
              <a:cs typeface="2  Mitra_2 (MRT)" panose="00000700000000000000" pitchFamily="2" charset="-78"/>
            </a:endParaRPr>
          </a:p>
          <a:p>
            <a:pPr algn="r" rtl="1"/>
            <a:r>
              <a:rPr lang="fa-IR" b="1" dirty="0">
                <a:cs typeface="2  Mitra_2 (MRT)" panose="00000700000000000000" pitchFamily="2" charset="-78"/>
              </a:rPr>
              <a:t>الگوریتم‌های معروف:</a:t>
            </a:r>
            <a:br>
              <a:rPr lang="fa-IR" dirty="0">
                <a:cs typeface="2  Mitra_2 (MRT)" panose="00000700000000000000" pitchFamily="2" charset="-78"/>
              </a:rPr>
            </a:br>
            <a:r>
              <a:rPr lang="en-US" dirty="0">
                <a:cs typeface="2  Mitra_2 (MRT)" panose="00000700000000000000" pitchFamily="2" charset="-78"/>
              </a:rPr>
              <a:t>K-Means، DBSCAN، PCA، </a:t>
            </a:r>
            <a:r>
              <a:rPr lang="en-US" dirty="0" err="1">
                <a:cs typeface="2  Mitra_2 (MRT)" panose="00000700000000000000" pitchFamily="2" charset="-78"/>
              </a:rPr>
              <a:t>Apriori</a:t>
            </a:r>
            <a:r>
              <a:rPr lang="en-US" dirty="0">
                <a:cs typeface="2  Mitra_2 (MRT)" panose="00000700000000000000" pitchFamily="2" charset="-78"/>
              </a:rPr>
              <a:t>، Autoencoder.</a:t>
            </a:r>
          </a:p>
          <a:p>
            <a:pPr algn="r" rtl="1"/>
            <a:r>
              <a:rPr lang="fa-IR" b="1" dirty="0">
                <a:cs typeface="2  Mitra_2 (MRT)" panose="00000700000000000000" pitchFamily="2" charset="-78"/>
              </a:rPr>
              <a:t>مثال عملی:</a:t>
            </a:r>
            <a:br>
              <a:rPr lang="fa-IR" dirty="0">
                <a:cs typeface="2  Mitra_2 (MRT)" panose="00000700000000000000" pitchFamily="2" charset="-78"/>
              </a:rPr>
            </a:br>
            <a:r>
              <a:rPr lang="fa-IR" dirty="0">
                <a:cs typeface="2  Mitra_2 (MRT)" panose="00000700000000000000" pitchFamily="2" charset="-78"/>
              </a:rPr>
              <a:t>دسته‌بندی اخبار بدون برچسب به گروه‌های موضوعی (ورزش، سیاست، فناوری).</a:t>
            </a:r>
          </a:p>
          <a:p>
            <a:pPr algn="r" rtl="1"/>
            <a:br>
              <a:rPr lang="fa-IR" dirty="0"/>
            </a:br>
            <a:endParaRPr lang="en-US" dirty="0"/>
          </a:p>
          <a:p>
            <a:pPr algn="r" rtl="1"/>
            <a:endParaRPr lang="en-US" dirty="0"/>
          </a:p>
        </p:txBody>
      </p:sp>
      <p:pic>
        <p:nvPicPr>
          <p:cNvPr id="7" name="Picture 6">
            <a:extLst>
              <a:ext uri="{FF2B5EF4-FFF2-40B4-BE49-F238E27FC236}">
                <a16:creationId xmlns:a16="http://schemas.microsoft.com/office/drawing/2014/main" id="{4077DD9A-4A8F-DE13-435D-8D88A4C077EC}"/>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334298" y="2104103"/>
            <a:ext cx="6872748" cy="376385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839500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F57DA5A-4319-E443-001F-A33EE98EB243}"/>
              </a:ext>
            </a:extLst>
          </p:cNvPr>
          <p:cNvSpPr/>
          <p:nvPr/>
        </p:nvSpPr>
        <p:spPr>
          <a:xfrm>
            <a:off x="1191322" y="311408"/>
            <a:ext cx="9809356" cy="5762014"/>
          </a:xfrm>
          <a:prstGeom prst="rect">
            <a:avLst/>
          </a:prstGeom>
          <a:solidFill>
            <a:schemeClr val="bg1">
              <a:lumMod val="85000"/>
              <a:lumOff val="1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800" b="1" dirty="0">
                <a:cs typeface="2  Mitra_2 (MRT)" panose="00000700000000000000" pitchFamily="2" charset="-78"/>
              </a:rPr>
              <a:t> </a:t>
            </a:r>
            <a:r>
              <a:rPr lang="fa-IR" sz="2800" b="1" dirty="0">
                <a:cs typeface="2  Mitra_2 (MRT)" panose="00000700000000000000" pitchFamily="2" charset="-78"/>
              </a:rPr>
              <a:t> چیست ؟</a:t>
            </a:r>
            <a:r>
              <a:rPr lang="en-US" sz="2800" b="1" dirty="0">
                <a:cs typeface="2  Mitra_2 (MRT)" panose="00000700000000000000" pitchFamily="2" charset="-78"/>
              </a:rPr>
              <a:t>KNN</a:t>
            </a:r>
            <a:r>
              <a:rPr lang="fa-IR" sz="2800" b="1" dirty="0">
                <a:cs typeface="2  Mitra_2 (MRT)" panose="00000700000000000000" pitchFamily="2" charset="-78"/>
              </a:rPr>
              <a:t> </a:t>
            </a:r>
          </a:p>
          <a:p>
            <a:pPr algn="r" rtl="1"/>
            <a:endParaRPr lang="en-US" dirty="0">
              <a:cs typeface="2  Mitra_2 (MRT)" panose="00000700000000000000" pitchFamily="2" charset="-78"/>
            </a:endParaRPr>
          </a:p>
          <a:p>
            <a:pPr algn="r" rtl="1"/>
            <a:endParaRPr lang="en-US" dirty="0">
              <a:cs typeface="2  Mitra_2 (MRT)" panose="00000700000000000000" pitchFamily="2" charset="-78"/>
            </a:endParaRPr>
          </a:p>
          <a:p>
            <a:pPr algn="r" rtl="1"/>
            <a:r>
              <a:rPr lang="en-US" dirty="0">
                <a:cs typeface="2  Mitra_2 (MRT)" panose="00000700000000000000" pitchFamily="2" charset="-78"/>
              </a:rPr>
              <a:t>KNN </a:t>
            </a:r>
            <a:r>
              <a:rPr lang="fa-IR" dirty="0">
                <a:cs typeface="2  Mitra_2 (MRT)" panose="00000700000000000000" pitchFamily="2" charset="-78"/>
              </a:rPr>
              <a:t>یک الگوریتم یادگیری نظارت‌شده (</a:t>
            </a:r>
            <a:r>
              <a:rPr lang="en-US" dirty="0">
                <a:cs typeface="2  Mitra_2 (MRT)" panose="00000700000000000000" pitchFamily="2" charset="-78"/>
              </a:rPr>
              <a:t> (Supervised Learning</a:t>
            </a:r>
            <a:r>
              <a:rPr lang="fa-IR" dirty="0">
                <a:cs typeface="2  Mitra_2 (MRT)" panose="00000700000000000000" pitchFamily="2" charset="-78"/>
              </a:rPr>
              <a:t>است که هم برای </a:t>
            </a:r>
            <a:r>
              <a:rPr lang="fa-IR" b="1" dirty="0">
                <a:cs typeface="2  Mitra_2 (MRT)" panose="00000700000000000000" pitchFamily="2" charset="-78"/>
              </a:rPr>
              <a:t>طبقه‌بندی</a:t>
            </a:r>
            <a:r>
              <a:rPr lang="fa-IR" dirty="0">
                <a:cs typeface="2  Mitra_2 (MRT)" panose="00000700000000000000" pitchFamily="2" charset="-78"/>
              </a:rPr>
              <a:t> (</a:t>
            </a:r>
            <a:r>
              <a:rPr lang="en-US" dirty="0">
                <a:cs typeface="2  Mitra_2 (MRT)" panose="00000700000000000000" pitchFamily="2" charset="-78"/>
              </a:rPr>
              <a:t> (Classification </a:t>
            </a:r>
            <a:r>
              <a:rPr lang="fa-IR" dirty="0">
                <a:cs typeface="2  Mitra_2 (MRT)" panose="00000700000000000000" pitchFamily="2" charset="-78"/>
              </a:rPr>
              <a:t>و هم برای </a:t>
            </a:r>
            <a:r>
              <a:rPr lang="fa-IR" b="1" dirty="0">
                <a:cs typeface="2  Mitra_2 (MRT)" panose="00000700000000000000" pitchFamily="2" charset="-78"/>
              </a:rPr>
              <a:t>رگرسیون</a:t>
            </a:r>
            <a:r>
              <a:rPr lang="fa-IR" dirty="0">
                <a:cs typeface="2  Mitra_2 (MRT)" panose="00000700000000000000" pitchFamily="2" charset="-78"/>
              </a:rPr>
              <a:t> (</a:t>
            </a:r>
            <a:r>
              <a:rPr lang="en-US" dirty="0">
                <a:cs typeface="2  Mitra_2 (MRT)" panose="00000700000000000000" pitchFamily="2" charset="-78"/>
              </a:rPr>
              <a:t> (Regression </a:t>
            </a:r>
            <a:r>
              <a:rPr lang="fa-IR" dirty="0">
                <a:cs typeface="2  Mitra_2 (MRT)" panose="00000700000000000000" pitchFamily="2" charset="-78"/>
              </a:rPr>
              <a:t>استفاده می‌شود. اساس کار آن «همسایگی» است: داده جدید بر اساس نزدیک‌ترین نمونه‌های موجود در مجموعه آموزشی، پیش‌بینی می‌شود.</a:t>
            </a:r>
          </a:p>
          <a:p>
            <a:pPr algn="r" rtl="1"/>
            <a:endParaRPr lang="fa-IR" dirty="0">
              <a:cs typeface="2  Mitra_2 (MRT)" panose="00000700000000000000" pitchFamily="2" charset="-78"/>
            </a:endParaRPr>
          </a:p>
          <a:p>
            <a:pPr algn="r" rtl="1"/>
            <a:r>
              <a:rPr lang="fa-IR" sz="2400" b="1" dirty="0">
                <a:cs typeface="2  Mitra_2 (MRT)" panose="00000700000000000000" pitchFamily="2" charset="-78"/>
              </a:rPr>
              <a:t>نحوه عملکرد (گام به گام)</a:t>
            </a:r>
          </a:p>
          <a:p>
            <a:pPr marL="342900" indent="-342900" algn="r" rtl="1">
              <a:lnSpc>
                <a:spcPct val="150000"/>
              </a:lnSpc>
              <a:buFont typeface="+mj-lt"/>
              <a:buAutoNum type="arabicPeriod"/>
            </a:pPr>
            <a:r>
              <a:rPr lang="fa-IR" dirty="0">
                <a:cs typeface="2  Mitra_2 (MRT)" panose="00000700000000000000" pitchFamily="2" charset="-78"/>
              </a:rPr>
              <a:t>عدد </a:t>
            </a:r>
            <a:r>
              <a:rPr lang="en-US" dirty="0">
                <a:cs typeface="2  Mitra_2 (MRT)" panose="00000700000000000000" pitchFamily="2" charset="-78"/>
              </a:rPr>
              <a:t>K</a:t>
            </a:r>
            <a:r>
              <a:rPr lang="fa-IR" dirty="0">
                <a:cs typeface="2  Mitra_2 (MRT)" panose="00000700000000000000" pitchFamily="2" charset="-78"/>
              </a:rPr>
              <a:t> (تعداد همسایگان) را انتخاب کنید.</a:t>
            </a:r>
          </a:p>
          <a:p>
            <a:pPr marL="342900" indent="-342900" algn="r" rtl="1">
              <a:lnSpc>
                <a:spcPct val="150000"/>
              </a:lnSpc>
              <a:buFont typeface="+mj-lt"/>
              <a:buAutoNum type="arabicPeriod"/>
            </a:pPr>
            <a:r>
              <a:rPr lang="fa-IR" dirty="0">
                <a:cs typeface="2  Mitra_2 (MRT)" panose="00000700000000000000" pitchFamily="2" charset="-78"/>
              </a:rPr>
              <a:t>فاصله داده جدید را از تمام داده‌های آموزشی محاسبه کنید (معمولاً فاصله اقلیدسی).</a:t>
            </a:r>
          </a:p>
          <a:p>
            <a:pPr marL="342900" indent="-342900" algn="r" rtl="1">
              <a:lnSpc>
                <a:spcPct val="150000"/>
              </a:lnSpc>
              <a:buFont typeface="+mj-lt"/>
              <a:buAutoNum type="arabicPeriod"/>
            </a:pPr>
            <a:r>
              <a:rPr lang="en-US" dirty="0">
                <a:cs typeface="2  Mitra_2 (MRT)" panose="00000700000000000000" pitchFamily="2" charset="-78"/>
              </a:rPr>
              <a:t>K </a:t>
            </a:r>
            <a:r>
              <a:rPr lang="fa-IR" dirty="0">
                <a:cs typeface="2  Mitra_2 (MRT)" panose="00000700000000000000" pitchFamily="2" charset="-78"/>
              </a:rPr>
              <a:t> داده‌ای که کمترین فاصله را دارند به عنوان همسایگان انتخاب کنید.</a:t>
            </a:r>
          </a:p>
          <a:p>
            <a:pPr algn="r" rtl="1">
              <a:lnSpc>
                <a:spcPct val="150000"/>
              </a:lnSpc>
            </a:pPr>
            <a:endParaRPr lang="fa-IR" b="1" dirty="0">
              <a:cs typeface="2  Mitra_2 (MRT)" panose="00000700000000000000" pitchFamily="2" charset="-78"/>
            </a:endParaRPr>
          </a:p>
          <a:p>
            <a:pPr algn="r" rtl="1">
              <a:lnSpc>
                <a:spcPct val="150000"/>
              </a:lnSpc>
            </a:pPr>
            <a:r>
              <a:rPr lang="fa-IR" b="1" dirty="0">
                <a:cs typeface="2  Mitra_2 (MRT)" panose="00000700000000000000" pitchFamily="2" charset="-78"/>
              </a:rPr>
              <a:t>برای طبقه‌بندی:</a:t>
            </a:r>
            <a:r>
              <a:rPr lang="fa-IR" dirty="0">
                <a:cs typeface="2  Mitra_2 (MRT)" panose="00000700000000000000" pitchFamily="2" charset="-78"/>
              </a:rPr>
              <a:t> رأی‌گیری اکثریت – کلاسی که بیشترین تکرار را در بین همسایگان دارد، به داده جدید اختصاص می‌یابد.</a:t>
            </a:r>
          </a:p>
          <a:p>
            <a:pPr algn="r" rtl="1">
              <a:lnSpc>
                <a:spcPct val="150000"/>
              </a:lnSpc>
            </a:pPr>
            <a:r>
              <a:rPr lang="fa-IR" b="1" dirty="0">
                <a:cs typeface="2  Mitra_2 (MRT)" panose="00000700000000000000" pitchFamily="2" charset="-78"/>
              </a:rPr>
              <a:t>برای رگرسیون:</a:t>
            </a:r>
            <a:r>
              <a:rPr lang="fa-IR" dirty="0">
                <a:cs typeface="2  Mitra_2 (MRT)" panose="00000700000000000000" pitchFamily="2" charset="-78"/>
              </a:rPr>
              <a:t> میانگین مقادیر هدف همسایگان را به عنوان خروجی در نظر بگیرید.</a:t>
            </a:r>
          </a:p>
          <a:p>
            <a:pPr algn="r" rtl="1">
              <a:lnSpc>
                <a:spcPct val="150000"/>
              </a:lnSpc>
            </a:pPr>
            <a:endParaRPr lang="en-US" dirty="0">
              <a:cs typeface="2  Mitra_2 (MRT)" panose="00000700000000000000" pitchFamily="2" charset="-78"/>
            </a:endParaRPr>
          </a:p>
        </p:txBody>
      </p:sp>
    </p:spTree>
    <p:extLst>
      <p:ext uri="{BB962C8B-B14F-4D97-AF65-F5344CB8AC3E}">
        <p14:creationId xmlns:p14="http://schemas.microsoft.com/office/powerpoint/2010/main" val="3279097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A16A9BC-8BDB-00E1-1EA9-033CE3FBC126}"/>
              </a:ext>
            </a:extLst>
          </p:cNvPr>
          <p:cNvSpPr/>
          <p:nvPr/>
        </p:nvSpPr>
        <p:spPr>
          <a:xfrm>
            <a:off x="7203990" y="243530"/>
            <a:ext cx="4802532" cy="5603789"/>
          </a:xfrm>
          <a:prstGeom prst="rect">
            <a:avLst/>
          </a:prstGeom>
          <a:solidFill>
            <a:schemeClr val="bg1">
              <a:lumMod val="85000"/>
              <a:lumOff val="1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r" rtl="1"/>
            <a:r>
              <a:rPr lang="fa-IR" sz="2800" b="1" dirty="0">
                <a:cs typeface="2  Mitra_2 (MRT)" panose="00000700000000000000" pitchFamily="2" charset="-78"/>
              </a:rPr>
              <a:t> انتخاب مقدار </a:t>
            </a:r>
            <a:r>
              <a:rPr lang="en-US" sz="2800" b="1" dirty="0">
                <a:cs typeface="2  Mitra_2 (MRT)" panose="00000700000000000000" pitchFamily="2" charset="-78"/>
              </a:rPr>
              <a:t>K</a:t>
            </a:r>
          </a:p>
          <a:p>
            <a:pPr algn="r" rtl="1"/>
            <a:endParaRPr lang="en-US" sz="2800" b="1" dirty="0">
              <a:cs typeface="2  Mitra_2 (MRT)" panose="00000700000000000000" pitchFamily="2" charset="-78"/>
            </a:endParaRPr>
          </a:p>
          <a:p>
            <a:pPr algn="r" rtl="1"/>
            <a:endParaRPr lang="en-US" sz="2800" b="1" dirty="0">
              <a:cs typeface="2  Mitra_2 (MRT)" panose="00000700000000000000" pitchFamily="2" charset="-78"/>
            </a:endParaRPr>
          </a:p>
          <a:p>
            <a:pPr algn="r" rtl="1"/>
            <a:endParaRPr lang="en-US" b="1" dirty="0"/>
          </a:p>
          <a:p>
            <a:pPr marL="285750" indent="-285750" algn="r" rtl="1">
              <a:buFont typeface="Arial" panose="020B0604020202020204" pitchFamily="34" charset="0"/>
              <a:buChar char="•"/>
            </a:pPr>
            <a:r>
              <a:rPr lang="en-US" dirty="0"/>
              <a:t>K </a:t>
            </a:r>
            <a:r>
              <a:rPr lang="fa-IR" dirty="0"/>
              <a:t>کوچک (مثلاً 1): بیش‌برازش (</a:t>
            </a:r>
            <a:r>
              <a:rPr lang="en-US" dirty="0"/>
              <a:t>Overfitting) – </a:t>
            </a:r>
            <a:r>
              <a:rPr lang="fa-IR" dirty="0"/>
              <a:t>حساس به نویز.</a:t>
            </a:r>
            <a:endParaRPr lang="en-US" dirty="0"/>
          </a:p>
          <a:p>
            <a:pPr marL="285750" indent="-285750" algn="r" rtl="1">
              <a:buFont typeface="Arial" panose="020B0604020202020204" pitchFamily="34" charset="0"/>
              <a:buChar char="•"/>
            </a:pPr>
            <a:endParaRPr lang="fa-IR" dirty="0"/>
          </a:p>
          <a:p>
            <a:pPr marL="285750" indent="-285750" algn="r" rtl="1">
              <a:buFont typeface="Arial" panose="020B0604020202020204" pitchFamily="34" charset="0"/>
              <a:buChar char="•"/>
            </a:pPr>
            <a:r>
              <a:rPr lang="en-US" dirty="0"/>
              <a:t>K </a:t>
            </a:r>
            <a:r>
              <a:rPr lang="fa-IR" dirty="0"/>
              <a:t>بزرگ: کم‌برازش (</a:t>
            </a:r>
            <a:r>
              <a:rPr lang="en-US" dirty="0"/>
              <a:t> (Underfitting</a:t>
            </a:r>
            <a:r>
              <a:rPr lang="fa-IR" dirty="0"/>
              <a:t>مرزهای تصمیم خیلی ساده می‌شوند.</a:t>
            </a:r>
          </a:p>
          <a:p>
            <a:pPr marL="285750" indent="-285750" algn="r" rtl="1">
              <a:buFont typeface="Arial" panose="020B0604020202020204" pitchFamily="34" charset="0"/>
              <a:buChar char="•"/>
            </a:pPr>
            <a:endParaRPr lang="en-US" dirty="0"/>
          </a:p>
          <a:p>
            <a:pPr marL="285750" indent="-285750" algn="r" rtl="1">
              <a:buFont typeface="Arial" panose="020B0604020202020204" pitchFamily="34" charset="0"/>
              <a:buChar char="•"/>
            </a:pPr>
            <a:r>
              <a:rPr lang="fa-IR" dirty="0"/>
              <a:t>روش معمول: آزمایش </a:t>
            </a:r>
            <a:r>
              <a:rPr lang="en-US" dirty="0"/>
              <a:t>K</a:t>
            </a:r>
            <a:r>
              <a:rPr lang="fa-IR" dirty="0"/>
              <a:t>های مختلف و استفاده از اعتبارسنجی متقابل (</a:t>
            </a:r>
            <a:r>
              <a:rPr lang="en-US" dirty="0"/>
              <a:t>(Cross-Validation</a:t>
            </a:r>
          </a:p>
          <a:p>
            <a:pPr algn="r" rtl="1"/>
            <a:endParaRPr lang="en-US" dirty="0"/>
          </a:p>
          <a:p>
            <a:pPr algn="r" rtl="1"/>
            <a:r>
              <a:rPr lang="fa-IR" dirty="0"/>
              <a:t>نکته: معمولاً </a:t>
            </a:r>
            <a:r>
              <a:rPr lang="en-US" dirty="0"/>
              <a:t> K </a:t>
            </a:r>
            <a:r>
              <a:rPr lang="fa-IR" dirty="0"/>
              <a:t>را فرد انتخاب می‌کنند تا در رأی‌گیری مساوی نشود.</a:t>
            </a:r>
          </a:p>
          <a:p>
            <a:pPr algn="r" rtl="1"/>
            <a:endParaRPr lang="en-US" dirty="0"/>
          </a:p>
        </p:txBody>
      </p:sp>
      <p:pic>
        <p:nvPicPr>
          <p:cNvPr id="5" name="Picture 4">
            <a:extLst>
              <a:ext uri="{FF2B5EF4-FFF2-40B4-BE49-F238E27FC236}">
                <a16:creationId xmlns:a16="http://schemas.microsoft.com/office/drawing/2014/main" id="{E2497B61-80CA-61BE-DE00-6FBEAD4C4D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4271" y="1390135"/>
            <a:ext cx="5601729" cy="407773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785680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E091EA3A-DCBF-88CC-B27C-C307D4D1E8D4}"/>
                  </a:ext>
                </a:extLst>
              </p:cNvPr>
              <p:cNvSpPr/>
              <p:nvPr/>
            </p:nvSpPr>
            <p:spPr>
              <a:xfrm>
                <a:off x="5524107" y="480766"/>
                <a:ext cx="6259398" cy="5335572"/>
              </a:xfrm>
              <a:prstGeom prst="rect">
                <a:avLst/>
              </a:prstGeom>
              <a:solidFill>
                <a:schemeClr val="bg1">
                  <a:lumMod val="85000"/>
                  <a:lumOff val="1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r" rtl="1"/>
                <a:r>
                  <a:rPr lang="fa-IR" b="1" dirty="0">
                    <a:cs typeface="2  Mitra_2 (MRT)" panose="00000700000000000000" pitchFamily="2" charset="-78"/>
                  </a:rPr>
                  <a:t>معیارهای فاصله</a:t>
                </a:r>
                <a:endParaRPr lang="en-US" b="1" dirty="0">
                  <a:cs typeface="2  Mitra_2 (MRT)" panose="00000700000000000000" pitchFamily="2" charset="-78"/>
                </a:endParaRPr>
              </a:p>
              <a:p>
                <a:pPr algn="r" rtl="1"/>
                <a:endParaRPr lang="fa-IR" b="1" dirty="0">
                  <a:cs typeface="2  Mitra_2 (MRT)" panose="00000700000000000000" pitchFamily="2" charset="-78"/>
                </a:endParaRPr>
              </a:p>
              <a:p>
                <a:pPr marL="285750" indent="-285750" algn="r" rtl="1">
                  <a:buFont typeface="Arial" panose="020B0604020202020204" pitchFamily="34" charset="0"/>
                  <a:buChar char="•"/>
                </a:pPr>
                <a:r>
                  <a:rPr lang="fa-IR" b="1" dirty="0">
                    <a:cs typeface="2  Mitra_2 (MRT)" panose="00000700000000000000" pitchFamily="2" charset="-78"/>
                  </a:rPr>
                  <a:t>اقلیدسی</a:t>
                </a:r>
                <a:r>
                  <a:rPr lang="en-US" b="1" dirty="0">
                    <a:cs typeface="2  Mitra_2 (MRT)" panose="00000700000000000000" pitchFamily="2" charset="-78"/>
                  </a:rPr>
                  <a:t> (Euclidean)</a:t>
                </a:r>
                <a:r>
                  <a:rPr lang="en-US" dirty="0">
                    <a:cs typeface="2  Mitra_2 (MRT)" panose="00000700000000000000" pitchFamily="2" charset="-78"/>
                  </a:rPr>
                  <a:t> </a:t>
                </a:r>
                <a:r>
                  <a:rPr lang="fa-IR" dirty="0">
                    <a:cs typeface="2  Mitra_2 (MRT)" panose="00000700000000000000" pitchFamily="2" charset="-78"/>
                  </a:rPr>
                  <a:t>متداول‌ترین گزینه.</a:t>
                </a:r>
              </a:p>
              <a:p>
                <a:pPr algn="r" rtl="1"/>
                <a14:m>
                  <m:oMathPara xmlns:m="http://schemas.openxmlformats.org/officeDocument/2006/math">
                    <m:oMathParaPr>
                      <m:jc m:val="centerGroup"/>
                    </m:oMathParaPr>
                    <m:oMath xmlns:m="http://schemas.openxmlformats.org/officeDocument/2006/math">
                      <m:r>
                        <a:rPr lang="fa-IR" i="1" smtClean="0">
                          <a:latin typeface="Cambria Math" panose="02040503050406030204" pitchFamily="18" charset="0"/>
                        </a:rPr>
                        <m:t>𝑑</m:t>
                      </m:r>
                      <m:r>
                        <a:rPr lang="fa-IR" smtClean="0">
                          <a:latin typeface="Cambria Math" panose="02040503050406030204" pitchFamily="18" charset="0"/>
                        </a:rPr>
                        <m:t>=</m:t>
                      </m:r>
                      <m:rad>
                        <m:radPr>
                          <m:degHide m:val="on"/>
                          <m:ctrlPr>
                            <a:rPr lang="fa-IR" i="1" smtClean="0">
                              <a:latin typeface="Cambria Math" panose="02040503050406030204" pitchFamily="18" charset="0"/>
                            </a:rPr>
                          </m:ctrlPr>
                        </m:radPr>
                        <m:deg/>
                        <m:e>
                          <m:nary>
                            <m:naryPr>
                              <m:chr m:val="∑"/>
                              <m:grow m:val="on"/>
                              <m:ctrlPr>
                                <a:rPr lang="fa-IR" i="1">
                                  <a:latin typeface="Cambria Math" panose="02040503050406030204" pitchFamily="18" charset="0"/>
                                </a:rPr>
                              </m:ctrlPr>
                            </m:naryPr>
                            <m:sub>
                              <m:r>
                                <a:rPr lang="fa-IR" i="1">
                                  <a:latin typeface="Cambria Math" panose="02040503050406030204" pitchFamily="18" charset="0"/>
                                </a:rPr>
                                <m:t>𝑖</m:t>
                              </m:r>
                              <m:r>
                                <a:rPr lang="fa-IR">
                                  <a:latin typeface="Cambria Math" panose="02040503050406030204" pitchFamily="18" charset="0"/>
                                </a:rPr>
                                <m:t>=</m:t>
                              </m:r>
                              <m:r>
                                <a:rPr lang="fa-IR">
                                  <a:latin typeface="Cambria Math" panose="02040503050406030204" pitchFamily="18" charset="0"/>
                                </a:rPr>
                                <m:t>1</m:t>
                              </m:r>
                            </m:sub>
                            <m:sup>
                              <m:r>
                                <a:rPr lang="fa-IR" i="1">
                                  <a:latin typeface="Cambria Math" panose="02040503050406030204" pitchFamily="18" charset="0"/>
                                </a:rPr>
                                <m:t>𝑛</m:t>
                              </m:r>
                            </m:sup>
                            <m:e>
                              <m:r>
                                <a:rPr lang="fa-IR">
                                  <a:latin typeface="Cambria Math" panose="02040503050406030204" pitchFamily="18" charset="0"/>
                                </a:rPr>
                                <m:t>(</m:t>
                              </m:r>
                            </m:e>
                          </m:nary>
                          <m:d>
                            <m:dPr>
                              <m:begChr m:val=""/>
                              <m:endChr m:val=""/>
                              <m:ctrlPr>
                                <a:rPr lang="fa-IR" i="1">
                                  <a:latin typeface="Cambria Math" panose="02040503050406030204" pitchFamily="18" charset="0"/>
                                </a:rPr>
                              </m:ctrlPr>
                            </m:dPr>
                            <m:e>
                              <m:sSub>
                                <m:sSubPr>
                                  <m:ctrlPr>
                                    <a:rPr lang="fa-IR" i="1">
                                      <a:latin typeface="Cambria Math" panose="02040503050406030204" pitchFamily="18" charset="0"/>
                                    </a:rPr>
                                  </m:ctrlPr>
                                </m:sSubPr>
                                <m:e>
                                  <m:r>
                                    <a:rPr lang="fa-IR" i="1">
                                      <a:latin typeface="Cambria Math" panose="02040503050406030204" pitchFamily="18" charset="0"/>
                                    </a:rPr>
                                    <m:t>𝑥</m:t>
                                  </m:r>
                                </m:e>
                                <m:sub>
                                  <m:r>
                                    <a:rPr lang="fa-IR" i="1">
                                      <a:latin typeface="Cambria Math" panose="02040503050406030204" pitchFamily="18" charset="0"/>
                                    </a:rPr>
                                    <m:t>𝑖</m:t>
                                  </m:r>
                                </m:sub>
                              </m:sSub>
                              <m:r>
                                <a:rPr lang="fa-IR">
                                  <a:latin typeface="Cambria Math" panose="02040503050406030204" pitchFamily="18" charset="0"/>
                                </a:rPr>
                                <m:t>−</m:t>
                              </m:r>
                              <m:sSub>
                                <m:sSubPr>
                                  <m:ctrlPr>
                                    <a:rPr lang="fa-IR" i="1">
                                      <a:latin typeface="Cambria Math" panose="02040503050406030204" pitchFamily="18" charset="0"/>
                                    </a:rPr>
                                  </m:ctrlPr>
                                </m:sSubPr>
                                <m:e>
                                  <m:r>
                                    <a:rPr lang="fa-IR" i="1">
                                      <a:latin typeface="Cambria Math" panose="02040503050406030204" pitchFamily="18" charset="0"/>
                                    </a:rPr>
                                    <m:t>𝑦</m:t>
                                  </m:r>
                                </m:e>
                                <m:sub>
                                  <m:r>
                                    <a:rPr lang="fa-IR" i="1">
                                      <a:latin typeface="Cambria Math" panose="02040503050406030204" pitchFamily="18" charset="0"/>
                                    </a:rPr>
                                    <m:t>𝑖</m:t>
                                  </m:r>
                                </m:sub>
                              </m:sSub>
                              <m:sSup>
                                <m:sSupPr>
                                  <m:ctrlPr>
                                    <a:rPr lang="fa-IR" i="1">
                                      <a:latin typeface="Cambria Math" panose="02040503050406030204" pitchFamily="18" charset="0"/>
                                    </a:rPr>
                                  </m:ctrlPr>
                                </m:sSupPr>
                                <m:e>
                                  <m:d>
                                    <m:dPr>
                                      <m:begChr m:val=""/>
                                      <m:endChr m:val=""/>
                                      <m:ctrlPr>
                                        <a:rPr lang="fa-IR" i="1">
                                          <a:latin typeface="Cambria Math" panose="02040503050406030204" pitchFamily="18" charset="0"/>
                                        </a:rPr>
                                      </m:ctrlPr>
                                    </m:dPr>
                                    <m:e>
                                      <m:r>
                                        <a:rPr lang="fa-IR">
                                          <a:latin typeface="Cambria Math" panose="02040503050406030204" pitchFamily="18" charset="0"/>
                                        </a:rPr>
                                        <m:t>)</m:t>
                                      </m:r>
                                    </m:e>
                                  </m:d>
                                </m:e>
                                <m:sup>
                                  <m:r>
                                    <a:rPr lang="fa-IR">
                                      <a:latin typeface="Cambria Math" panose="02040503050406030204" pitchFamily="18" charset="0"/>
                                    </a:rPr>
                                    <m:t>2</m:t>
                                  </m:r>
                                </m:sup>
                              </m:sSup>
                            </m:e>
                          </m:d>
                        </m:e>
                      </m:rad>
                    </m:oMath>
                  </m:oMathPara>
                </a14:m>
                <a:endParaRPr lang="fa-IR" dirty="0">
                  <a:cs typeface="2  Mitra_2 (MRT)" panose="00000700000000000000" pitchFamily="2" charset="-78"/>
                </a:endParaRPr>
              </a:p>
              <a:p>
                <a:pPr marL="285750" indent="-285750" algn="r" rtl="1">
                  <a:buFont typeface="Arial" panose="020B0604020202020204" pitchFamily="34" charset="0"/>
                  <a:buChar char="•"/>
                </a:pPr>
                <a:endParaRPr lang="en-US" b="1" dirty="0">
                  <a:cs typeface="2  Mitra_2 (MRT)" panose="00000700000000000000" pitchFamily="2" charset="-78"/>
                </a:endParaRPr>
              </a:p>
              <a:p>
                <a:pPr marL="285750" indent="-285750" algn="r" rtl="1">
                  <a:buFont typeface="Arial" panose="020B0604020202020204" pitchFamily="34" charset="0"/>
                  <a:buChar char="•"/>
                </a:pPr>
                <a:endParaRPr lang="en-US" b="1" dirty="0">
                  <a:cs typeface="2  Mitra_2 (MRT)" panose="00000700000000000000" pitchFamily="2" charset="-78"/>
                </a:endParaRPr>
              </a:p>
              <a:p>
                <a:pPr marL="285750" indent="-285750" algn="r" rtl="1">
                  <a:buFont typeface="Arial" panose="020B0604020202020204" pitchFamily="34" charset="0"/>
                  <a:buChar char="•"/>
                </a:pPr>
                <a:endParaRPr lang="en-US" b="1" dirty="0">
                  <a:cs typeface="2  Mitra_2 (MRT)" panose="00000700000000000000" pitchFamily="2" charset="-78"/>
                </a:endParaRPr>
              </a:p>
              <a:p>
                <a:pPr marL="285750" indent="-285750" algn="r" rtl="1">
                  <a:buFont typeface="Arial" panose="020B0604020202020204" pitchFamily="34" charset="0"/>
                  <a:buChar char="•"/>
                </a:pPr>
                <a:r>
                  <a:rPr lang="fa-IR" b="1" dirty="0">
                    <a:cs typeface="2  Mitra_2 (MRT)" panose="00000700000000000000" pitchFamily="2" charset="-78"/>
                  </a:rPr>
                  <a:t>منهتتن (</a:t>
                </a:r>
                <a:r>
                  <a:rPr lang="en-US" b="1" dirty="0">
                    <a:cs typeface="2  Mitra_2 (MRT)" panose="00000700000000000000" pitchFamily="2" charset="-78"/>
                  </a:rPr>
                  <a:t> (Manhattan</a:t>
                </a:r>
                <a:r>
                  <a:rPr lang="fa-IR" dirty="0">
                    <a:cs typeface="2  Mitra_2 (MRT)" panose="00000700000000000000" pitchFamily="2" charset="-78"/>
                  </a:rPr>
                  <a:t>جمع قدر مطلق اختلافات.</a:t>
                </a:r>
                <a:endParaRPr lang="en-US" dirty="0">
                  <a:cs typeface="2  Mitra_2 (MRT)" panose="00000700000000000000" pitchFamily="2" charset="-78"/>
                </a:endParaRPr>
              </a:p>
              <a:p>
                <a:pPr marL="285750" indent="-285750" algn="r" rtl="1">
                  <a:buFont typeface="Arial" panose="020B0604020202020204" pitchFamily="34" charset="0"/>
                  <a:buChar char="•"/>
                </a:pPr>
                <a:endParaRPr lang="en-US" dirty="0">
                  <a:cs typeface="2  Mitra_2 (MRT)" panose="00000700000000000000" pitchFamily="2" charset="-78"/>
                </a:endParaRPr>
              </a:p>
              <a:p>
                <a:pPr marL="285750" indent="-285750" algn="r" rtl="1">
                  <a:buFont typeface="Arial" panose="020B0604020202020204" pitchFamily="34" charset="0"/>
                  <a:buChar char="•"/>
                </a:pPr>
                <a:endParaRPr lang="en-US" dirty="0">
                  <a:cs typeface="2  Mitra_2 (MRT)" panose="00000700000000000000" pitchFamily="2" charset="-78"/>
                </a:endParaRPr>
              </a:p>
              <a:p>
                <a:pPr algn="r" rtl="1"/>
                <a:endParaRPr lang="en-US" dirty="0">
                  <a:cs typeface="2  Mitra_2 (MRT)" panose="00000700000000000000" pitchFamily="2" charset="-78"/>
                </a:endParaRPr>
              </a:p>
              <a:p>
                <a:pPr marL="285750" indent="-285750" algn="r" rtl="1">
                  <a:buFont typeface="Arial" panose="020B0604020202020204" pitchFamily="34" charset="0"/>
                  <a:buChar char="•"/>
                </a:pPr>
                <a:endParaRPr lang="en-US" dirty="0">
                  <a:cs typeface="2  Mitra_2 (MRT)" panose="00000700000000000000" pitchFamily="2" charset="-78"/>
                </a:endParaRPr>
              </a:p>
              <a:p>
                <a:pPr marL="285750" indent="-285750" algn="r" rtl="1">
                  <a:buFont typeface="Arial" panose="020B0604020202020204" pitchFamily="34" charset="0"/>
                  <a:buChar char="•"/>
                </a:pPr>
                <a:endParaRPr lang="fa-IR" dirty="0">
                  <a:cs typeface="2  Mitra_2 (MRT)" panose="00000700000000000000" pitchFamily="2" charset="-78"/>
                </a:endParaRPr>
              </a:p>
              <a:p>
                <a:pPr marL="285750" indent="-285750" algn="r" rtl="1">
                  <a:buFont typeface="Arial" panose="020B0604020202020204" pitchFamily="34" charset="0"/>
                  <a:buChar char="•"/>
                </a:pPr>
                <a:r>
                  <a:rPr lang="fa-IR" b="1" dirty="0">
                    <a:cs typeface="2  Mitra_2 (MRT)" panose="00000700000000000000" pitchFamily="2" charset="-78"/>
                  </a:rPr>
                  <a:t>مینکوفسکی (</a:t>
                </a:r>
                <a:r>
                  <a:rPr lang="en-US" b="1" dirty="0">
                    <a:cs typeface="2  Mitra_2 (MRT)" panose="00000700000000000000" pitchFamily="2" charset="-78"/>
                  </a:rPr>
                  <a:t> (Minkowski</a:t>
                </a:r>
                <a:r>
                  <a:rPr lang="fa-IR" dirty="0">
                    <a:cs typeface="2  Mitra_2 (MRT)" panose="00000700000000000000" pitchFamily="2" charset="-78"/>
                  </a:rPr>
                  <a:t>حالت کلی که با پارامتر</a:t>
                </a:r>
                <a:r>
                  <a:rPr lang="en-US" dirty="0">
                    <a:cs typeface="2  Mitra_2 (MRT)" panose="00000700000000000000" pitchFamily="2" charset="-78"/>
                  </a:rPr>
                  <a:t>p </a:t>
                </a:r>
                <a:r>
                  <a:rPr lang="fa-IR" dirty="0">
                    <a:cs typeface="2  Mitra_2 (MRT)" panose="00000700000000000000" pitchFamily="2" charset="-78"/>
                  </a:rPr>
                  <a:t>کنترل می‌شود (</a:t>
                </a:r>
                <a:r>
                  <a:rPr lang="en-US" dirty="0">
                    <a:cs typeface="2  Mitra_2 (MRT)" panose="00000700000000000000" pitchFamily="2" charset="-78"/>
                  </a:rPr>
                  <a:t>p=2 </a:t>
                </a:r>
                <a:r>
                  <a:rPr lang="fa-IR" dirty="0">
                    <a:cs typeface="2  Mitra_2 (MRT)" panose="00000700000000000000" pitchFamily="2" charset="-78"/>
                  </a:rPr>
                  <a:t>اقلیدسی، </a:t>
                </a:r>
                <a:r>
                  <a:rPr lang="en-US" dirty="0">
                    <a:cs typeface="2  Mitra_2 (MRT)" panose="00000700000000000000" pitchFamily="2" charset="-78"/>
                  </a:rPr>
                  <a:t>p=1 </a:t>
                </a:r>
                <a:r>
                  <a:rPr lang="fa-IR" dirty="0">
                    <a:cs typeface="2  Mitra_2 (MRT)" panose="00000700000000000000" pitchFamily="2" charset="-78"/>
                  </a:rPr>
                  <a:t>منهتتن).</a:t>
                </a:r>
              </a:p>
              <a:p>
                <a:pPr algn="r" rtl="1"/>
                <a:endParaRPr lang="fa-IR" dirty="0">
                  <a:cs typeface="2  Mitra_2 (MRT)" panose="00000700000000000000" pitchFamily="2" charset="-78"/>
                </a:endParaRPr>
              </a:p>
              <a:p>
                <a:pPr algn="r" rtl="1"/>
                <a:endParaRPr lang="en-US" dirty="0">
                  <a:cs typeface="2  Mitra_2 (MRT)" panose="00000700000000000000" pitchFamily="2" charset="-78"/>
                </a:endParaRPr>
              </a:p>
            </p:txBody>
          </p:sp>
        </mc:Choice>
        <mc:Fallback xmlns="">
          <p:sp>
            <p:nvSpPr>
              <p:cNvPr id="2" name="Rectangle 1">
                <a:extLst>
                  <a:ext uri="{FF2B5EF4-FFF2-40B4-BE49-F238E27FC236}">
                    <a16:creationId xmlns:a16="http://schemas.microsoft.com/office/drawing/2014/main" id="{E091EA3A-DCBF-88CC-B27C-C307D4D1E8D4}"/>
                  </a:ext>
                </a:extLst>
              </p:cNvPr>
              <p:cNvSpPr>
                <a:spLocks noRot="1" noChangeAspect="1" noMove="1" noResize="1" noEditPoints="1" noAdjustHandles="1" noChangeArrowheads="1" noChangeShapeType="1" noTextEdit="1"/>
              </p:cNvSpPr>
              <p:nvPr/>
            </p:nvSpPr>
            <p:spPr>
              <a:xfrm>
                <a:off x="5524107" y="480766"/>
                <a:ext cx="6259398" cy="5335572"/>
              </a:xfrm>
              <a:prstGeom prst="rect">
                <a:avLst/>
              </a:prstGeom>
              <a:blipFill>
                <a:blip r:embed="rId2"/>
                <a:stretch>
                  <a:fillRect t="-456" r="-680"/>
                </a:stretch>
              </a:blipFill>
              <a:ln>
                <a:solidFill>
                  <a:schemeClr val="tx1"/>
                </a:solidFill>
              </a:ln>
            </p:spPr>
            <p:txBody>
              <a:bodyPr/>
              <a:lstStyle/>
              <a:p>
                <a:r>
                  <a:rPr lang="en-US">
                    <a:noFill/>
                  </a:rPr>
                  <a:t> </a:t>
                </a:r>
              </a:p>
            </p:txBody>
          </p:sp>
        </mc:Fallback>
      </mc:AlternateContent>
      <p:pic>
        <p:nvPicPr>
          <p:cNvPr id="4" name="Picture 3">
            <a:extLst>
              <a:ext uri="{FF2B5EF4-FFF2-40B4-BE49-F238E27FC236}">
                <a16:creationId xmlns:a16="http://schemas.microsoft.com/office/drawing/2014/main" id="{F52FCFC1-0C18-1D4E-91F4-2E86625210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5035" y="480766"/>
            <a:ext cx="4600280" cy="533557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787917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A1DB6B-2155-FBA7-CFCF-36909E3306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165" y="2662164"/>
            <a:ext cx="7090755" cy="2362619"/>
          </a:xfrm>
          <a:prstGeom prst="roundRect">
            <a:avLst>
              <a:gd name="adj" fmla="val 4167"/>
            </a:avLst>
          </a:prstGeom>
          <a:ln/>
          <a:effectLst>
            <a:reflection blurRad="6350" stA="50000" endA="300" endPos="55000" dir="5400000" sy="-100000" algn="bl" rotWithShape="0"/>
          </a:effectLst>
        </p:spPr>
        <p:style>
          <a:lnRef idx="2">
            <a:schemeClr val="accent3"/>
          </a:lnRef>
          <a:fillRef idx="1">
            <a:schemeClr val="lt1"/>
          </a:fillRef>
          <a:effectRef idx="0">
            <a:schemeClr val="accent3"/>
          </a:effectRef>
          <a:fontRef idx="minor">
            <a:schemeClr val="dk1"/>
          </a:fontRef>
        </p:style>
      </p:pic>
      <p:sp>
        <p:nvSpPr>
          <p:cNvPr id="6" name="TextBox 5">
            <a:extLst>
              <a:ext uri="{FF2B5EF4-FFF2-40B4-BE49-F238E27FC236}">
                <a16:creationId xmlns:a16="http://schemas.microsoft.com/office/drawing/2014/main" id="{470111B3-B79F-E6E8-4E21-6544578236BF}"/>
              </a:ext>
            </a:extLst>
          </p:cNvPr>
          <p:cNvSpPr txBox="1"/>
          <p:nvPr/>
        </p:nvSpPr>
        <p:spPr>
          <a:xfrm>
            <a:off x="722722" y="521893"/>
            <a:ext cx="5373278" cy="1231106"/>
          </a:xfrm>
          <a:prstGeom prst="rect">
            <a:avLst/>
          </a:prstGeom>
          <a:solidFill>
            <a:schemeClr val="bg1">
              <a:lumMod val="85000"/>
              <a:lumOff val="15000"/>
            </a:schemeClr>
          </a:solidFill>
          <a:ln>
            <a:solidFill>
              <a:schemeClr val="tx1"/>
            </a:solidFill>
          </a:ln>
        </p:spPr>
        <p:txBody>
          <a:bodyPr wrap="square" rtlCol="0">
            <a:spAutoFit/>
          </a:bodyPr>
          <a:lstStyle/>
          <a:p>
            <a:pPr algn="ctr" rtl="1"/>
            <a:r>
              <a:rPr lang="fa-IR" sz="2800" b="1" dirty="0">
                <a:cs typeface="2  Mitra_2 (MRT)" panose="00000700000000000000" pitchFamily="2" charset="-78"/>
              </a:rPr>
              <a:t>توضیح خطوط کلیدی کد</a:t>
            </a:r>
          </a:p>
          <a:p>
            <a:pPr algn="ctr" rtl="1"/>
            <a:r>
              <a:rPr lang="fa-IR" sz="2800" b="1" dirty="0">
                <a:cs typeface="2  Mitra_2 (MRT)" panose="00000700000000000000" pitchFamily="2" charset="-78"/>
              </a:rPr>
              <a:t> وارد کردن کتابخانه‌های مورد نیاز</a:t>
            </a:r>
          </a:p>
          <a:p>
            <a:endParaRPr lang="en-US" dirty="0"/>
          </a:p>
        </p:txBody>
      </p:sp>
      <p:sp>
        <p:nvSpPr>
          <p:cNvPr id="7" name="Rectangle 6">
            <a:extLst>
              <a:ext uri="{FF2B5EF4-FFF2-40B4-BE49-F238E27FC236}">
                <a16:creationId xmlns:a16="http://schemas.microsoft.com/office/drawing/2014/main" id="{13F7B8A7-A51D-AC67-5935-40F7D03DC66D}"/>
              </a:ext>
            </a:extLst>
          </p:cNvPr>
          <p:cNvSpPr/>
          <p:nvPr/>
        </p:nvSpPr>
        <p:spPr>
          <a:xfrm>
            <a:off x="7607431" y="286223"/>
            <a:ext cx="4388404" cy="5737505"/>
          </a:xfrm>
          <a:prstGeom prst="rect">
            <a:avLst/>
          </a:prstGeom>
          <a:solidFill>
            <a:schemeClr val="bg1">
              <a:lumMod val="85000"/>
              <a:lumOff val="1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lgn="r" rtl="1">
              <a:lnSpc>
                <a:spcPct val="150000"/>
              </a:lnSpc>
              <a:buFont typeface="Arial" panose="020B0604020202020204" pitchFamily="34" charset="0"/>
              <a:buChar char="•"/>
            </a:pPr>
            <a:r>
              <a:rPr lang="en-US" sz="1600" b="1" dirty="0">
                <a:cs typeface="2  Mitra_2 (MRT)" panose="00000700000000000000" pitchFamily="2" charset="-78"/>
              </a:rPr>
              <a:t> : </a:t>
            </a:r>
            <a:r>
              <a:rPr lang="en-US" sz="1600" b="1" dirty="0" err="1">
                <a:cs typeface="2  Mitra_2 (MRT)" panose="00000700000000000000" pitchFamily="2" charset="-78"/>
              </a:rPr>
              <a:t>numpy</a:t>
            </a:r>
            <a:r>
              <a:rPr lang="en-US" sz="1600" dirty="0">
                <a:cs typeface="2  Mitra_2 (MRT)" panose="00000700000000000000" pitchFamily="2" charset="-78"/>
              </a:rPr>
              <a:t> </a:t>
            </a:r>
            <a:r>
              <a:rPr lang="fa-IR" sz="1600" dirty="0">
                <a:cs typeface="2  Mitra_2 (MRT)" panose="00000700000000000000" pitchFamily="2" charset="-78"/>
              </a:rPr>
              <a:t>برای عملیات عددی (گرچه در این کد زیاد مستقیم استفاده نشده، اما پشت‌صحنه توسط </a:t>
            </a:r>
            <a:r>
              <a:rPr lang="en-US" sz="1600" dirty="0">
                <a:cs typeface="2  Mitra_2 (MRT)" panose="00000700000000000000" pitchFamily="2" charset="-78"/>
              </a:rPr>
              <a:t> </a:t>
            </a:r>
            <a:r>
              <a:rPr lang="en-US" sz="1600" dirty="0" err="1">
                <a:cs typeface="2  Mitra_2 (MRT)" panose="00000700000000000000" pitchFamily="2" charset="-78"/>
              </a:rPr>
              <a:t>sklearn</a:t>
            </a:r>
            <a:r>
              <a:rPr lang="fa-IR" sz="1600" dirty="0">
                <a:cs typeface="2  Mitra_2 (MRT)" panose="00000700000000000000" pitchFamily="2" charset="-78"/>
              </a:rPr>
              <a:t>نیاز است).</a:t>
            </a:r>
          </a:p>
          <a:p>
            <a:pPr marL="285750" indent="-285750" algn="r" rtl="1">
              <a:lnSpc>
                <a:spcPct val="150000"/>
              </a:lnSpc>
              <a:buFont typeface="Arial" panose="020B0604020202020204" pitchFamily="34" charset="0"/>
              <a:buChar char="•"/>
            </a:pPr>
            <a:r>
              <a:rPr lang="en-US" sz="1600" b="1" dirty="0">
                <a:cs typeface="2  Mitra_2 (MRT)" panose="00000700000000000000" pitchFamily="2" charset="-78"/>
              </a:rPr>
              <a:t> : </a:t>
            </a:r>
            <a:r>
              <a:rPr lang="en-US" sz="1600" b="1" dirty="0" err="1">
                <a:cs typeface="2  Mitra_2 (MRT)" panose="00000700000000000000" pitchFamily="2" charset="-78"/>
              </a:rPr>
              <a:t>matplotlib.pyplot</a:t>
            </a:r>
            <a:r>
              <a:rPr lang="en-US" sz="1600" dirty="0">
                <a:cs typeface="2  Mitra_2 (MRT)" panose="00000700000000000000" pitchFamily="2" charset="-78"/>
              </a:rPr>
              <a:t> </a:t>
            </a:r>
            <a:r>
              <a:rPr lang="fa-IR" sz="1600" dirty="0">
                <a:cs typeface="2  Mitra_2 (MRT)" panose="00000700000000000000" pitchFamily="2" charset="-78"/>
              </a:rPr>
              <a:t>برای رسم نمودار و نمایش همسایگی‌ها.</a:t>
            </a:r>
          </a:p>
          <a:p>
            <a:pPr marL="285750" indent="-285750" algn="r" rtl="1">
              <a:lnSpc>
                <a:spcPct val="150000"/>
              </a:lnSpc>
              <a:buFont typeface="Arial" panose="020B0604020202020204" pitchFamily="34" charset="0"/>
              <a:buChar char="•"/>
            </a:pPr>
            <a:r>
              <a:rPr lang="en-US" sz="1600" b="1" dirty="0">
                <a:cs typeface="2  Mitra_2 (MRT)" panose="00000700000000000000" pitchFamily="2" charset="-78"/>
              </a:rPr>
              <a:t> : </a:t>
            </a:r>
            <a:r>
              <a:rPr lang="en-US" sz="1600" b="1" dirty="0" err="1">
                <a:cs typeface="2  Mitra_2 (MRT)" panose="00000700000000000000" pitchFamily="2" charset="-78"/>
              </a:rPr>
              <a:t>load_iris</a:t>
            </a:r>
            <a:r>
              <a:rPr lang="en-US" sz="1600" dirty="0">
                <a:cs typeface="2  Mitra_2 (MRT)" panose="00000700000000000000" pitchFamily="2" charset="-78"/>
              </a:rPr>
              <a:t> </a:t>
            </a:r>
            <a:r>
              <a:rPr lang="fa-IR" sz="1600" dirty="0">
                <a:cs typeface="2  Mitra_2 (MRT)" panose="00000700000000000000" pitchFamily="2" charset="-78"/>
              </a:rPr>
              <a:t>تابعی برای بارگذاری دیتاست معروف </a:t>
            </a:r>
            <a:r>
              <a:rPr lang="en-US" sz="1600" dirty="0">
                <a:cs typeface="2  Mitra_2 (MRT)" panose="00000700000000000000" pitchFamily="2" charset="-78"/>
              </a:rPr>
              <a:t>Iris (</a:t>
            </a:r>
            <a:r>
              <a:rPr lang="fa-IR" sz="1600" dirty="0">
                <a:cs typeface="2  Mitra_2 (MRT)" panose="00000700000000000000" pitchFamily="2" charset="-78"/>
              </a:rPr>
              <a:t>زنبق).</a:t>
            </a:r>
          </a:p>
          <a:p>
            <a:pPr marL="285750" indent="-285750" algn="r" rtl="1">
              <a:lnSpc>
                <a:spcPct val="150000"/>
              </a:lnSpc>
              <a:buFont typeface="Arial" panose="020B0604020202020204" pitchFamily="34" charset="0"/>
              <a:buChar char="•"/>
            </a:pPr>
            <a:r>
              <a:rPr lang="en-US" sz="1600" b="1" dirty="0">
                <a:cs typeface="2  Mitra_2 (MRT)" panose="00000700000000000000" pitchFamily="2" charset="-78"/>
              </a:rPr>
              <a:t> : </a:t>
            </a:r>
            <a:r>
              <a:rPr lang="en-US" sz="1600" b="1" dirty="0" err="1">
                <a:cs typeface="2  Mitra_2 (MRT)" panose="00000700000000000000" pitchFamily="2" charset="-78"/>
              </a:rPr>
              <a:t>NearestNeighbors</a:t>
            </a:r>
            <a:r>
              <a:rPr lang="en-US" sz="1600" dirty="0">
                <a:cs typeface="2  Mitra_2 (MRT)" panose="00000700000000000000" pitchFamily="2" charset="-78"/>
              </a:rPr>
              <a:t> </a:t>
            </a:r>
            <a:r>
              <a:rPr lang="fa-IR" sz="1600" dirty="0">
                <a:cs typeface="2  Mitra_2 (MRT)" panose="00000700000000000000" pitchFamily="2" charset="-78"/>
              </a:rPr>
              <a:t>کلاسی از </a:t>
            </a:r>
            <a:r>
              <a:rPr lang="en-US" sz="1600" dirty="0">
                <a:cs typeface="2  Mitra_2 (MRT)" panose="00000700000000000000" pitchFamily="2" charset="-78"/>
              </a:rPr>
              <a:t>scikit-learn </a:t>
            </a:r>
            <a:r>
              <a:rPr lang="fa-IR" sz="1600" dirty="0">
                <a:cs typeface="2  Mitra_2 (MRT)" panose="00000700000000000000" pitchFamily="2" charset="-78"/>
              </a:rPr>
              <a:t>که برای یافتن </a:t>
            </a:r>
            <a:r>
              <a:rPr lang="en-US" sz="1600" dirty="0">
                <a:cs typeface="2  Mitra_2 (MRT)" panose="00000700000000000000" pitchFamily="2" charset="-78"/>
              </a:rPr>
              <a:t>k </a:t>
            </a:r>
            <a:r>
              <a:rPr lang="fa-IR" sz="1600" dirty="0">
                <a:cs typeface="2  Mitra_2 (MRT)" panose="00000700000000000000" pitchFamily="2" charset="-78"/>
              </a:rPr>
              <a:t>همسایه نزدیک بهینه و سریع استفاده می‌شود (با پشتیبانی از درخت‌های </a:t>
            </a:r>
            <a:r>
              <a:rPr lang="en-US" sz="1600" dirty="0">
                <a:cs typeface="2  Mitra_2 (MRT)" panose="00000700000000000000" pitchFamily="2" charset="-78"/>
              </a:rPr>
              <a:t> </a:t>
            </a:r>
            <a:r>
              <a:rPr lang="en-US" sz="1600" dirty="0" err="1">
                <a:cs typeface="2  Mitra_2 (MRT)" panose="00000700000000000000" pitchFamily="2" charset="-78"/>
              </a:rPr>
              <a:t>kd</a:t>
            </a:r>
            <a:r>
              <a:rPr lang="en-US" sz="1600" dirty="0">
                <a:cs typeface="2  Mitra_2 (MRT)" panose="00000700000000000000" pitchFamily="2" charset="-78"/>
              </a:rPr>
              <a:t>-tree</a:t>
            </a:r>
            <a:r>
              <a:rPr lang="fa-IR" sz="1600" dirty="0">
                <a:cs typeface="2  Mitra_2 (MRT)" panose="00000700000000000000" pitchFamily="2" charset="-78"/>
              </a:rPr>
              <a:t>یا</a:t>
            </a:r>
            <a:r>
              <a:rPr lang="en-US" sz="1600" dirty="0">
                <a:cs typeface="2  Mitra_2 (MRT)" panose="00000700000000000000" pitchFamily="2" charset="-78"/>
              </a:rPr>
              <a:t>  (ball-tree </a:t>
            </a:r>
          </a:p>
          <a:p>
            <a:pPr marL="285750" indent="-285750" algn="r" rtl="1">
              <a:lnSpc>
                <a:spcPct val="150000"/>
              </a:lnSpc>
              <a:buFont typeface="Arial" panose="020B0604020202020204" pitchFamily="34" charset="0"/>
              <a:buChar char="•"/>
            </a:pPr>
            <a:r>
              <a:rPr lang="en-US" sz="1600" b="1" dirty="0">
                <a:cs typeface="2  Mitra_2 (MRT)" panose="00000700000000000000" pitchFamily="2" charset="-78"/>
              </a:rPr>
              <a:t> : </a:t>
            </a:r>
            <a:r>
              <a:rPr lang="en-US" sz="1600" b="1" dirty="0" err="1">
                <a:cs typeface="2  Mitra_2 (MRT)" panose="00000700000000000000" pitchFamily="2" charset="-78"/>
              </a:rPr>
              <a:t>StandardScaler</a:t>
            </a:r>
            <a:r>
              <a:rPr lang="en-US" sz="1600" dirty="0">
                <a:cs typeface="2  Mitra_2 (MRT)" panose="00000700000000000000" pitchFamily="2" charset="-78"/>
              </a:rPr>
              <a:t> </a:t>
            </a:r>
            <a:r>
              <a:rPr lang="fa-IR" sz="1600" dirty="0">
                <a:cs typeface="2  Mitra_2 (MRT)" panose="00000700000000000000" pitchFamily="2" charset="-78"/>
              </a:rPr>
              <a:t>برای نرمال‌سازی داده‌ها (میانگین صفر، واریانس یک) – در </a:t>
            </a:r>
            <a:r>
              <a:rPr lang="en-US" sz="1600" dirty="0">
                <a:cs typeface="2  Mitra_2 (MRT)" panose="00000700000000000000" pitchFamily="2" charset="-78"/>
              </a:rPr>
              <a:t>KNN </a:t>
            </a:r>
            <a:r>
              <a:rPr lang="fa-IR" sz="1600" dirty="0">
                <a:cs typeface="2  Mitra_2 (MRT)" panose="00000700000000000000" pitchFamily="2" charset="-78"/>
              </a:rPr>
              <a:t>بسیار حیاتی است چون فاصله تحت تأثیر مقیاس ویژگی‌هاست.</a:t>
            </a:r>
          </a:p>
          <a:p>
            <a:pPr marL="285750" indent="-285750" algn="r" rtl="1">
              <a:lnSpc>
                <a:spcPct val="150000"/>
              </a:lnSpc>
              <a:buFont typeface="Arial" panose="020B0604020202020204" pitchFamily="34" charset="0"/>
              <a:buChar char="•"/>
            </a:pPr>
            <a:r>
              <a:rPr lang="en-US" sz="1600" b="1" dirty="0">
                <a:cs typeface="2  Mitra_2 (MRT)" panose="00000700000000000000" pitchFamily="2" charset="-78"/>
              </a:rPr>
              <a:t> : Counter</a:t>
            </a:r>
            <a:r>
              <a:rPr lang="en-US" sz="1600" dirty="0">
                <a:cs typeface="2  Mitra_2 (MRT)" panose="00000700000000000000" pitchFamily="2" charset="-78"/>
              </a:rPr>
              <a:t> </a:t>
            </a:r>
            <a:r>
              <a:rPr lang="fa-IR" sz="1600" dirty="0">
                <a:cs typeface="2  Mitra_2 (MRT)" panose="00000700000000000000" pitchFamily="2" charset="-78"/>
              </a:rPr>
              <a:t>از </a:t>
            </a:r>
            <a:r>
              <a:rPr lang="en-US" sz="1600" dirty="0">
                <a:cs typeface="2  Mitra_2 (MRT)" panose="00000700000000000000" pitchFamily="2" charset="-78"/>
              </a:rPr>
              <a:t>collections </a:t>
            </a:r>
            <a:r>
              <a:rPr lang="fa-IR" sz="1600" dirty="0">
                <a:cs typeface="2  Mitra_2 (MRT)" panose="00000700000000000000" pitchFamily="2" charset="-78"/>
              </a:rPr>
              <a:t>برای شمارش آسان کلاس‌ها در رأی‌گیری نهایی.</a:t>
            </a:r>
          </a:p>
          <a:p>
            <a:pPr algn="r" rtl="1">
              <a:lnSpc>
                <a:spcPct val="150000"/>
              </a:lnSpc>
            </a:pPr>
            <a:br>
              <a:rPr lang="fa-IR" sz="1600" dirty="0">
                <a:cs typeface="2  Mitra_2 (MRT)" panose="00000700000000000000" pitchFamily="2" charset="-78"/>
              </a:rPr>
            </a:br>
            <a:endParaRPr lang="en-US" sz="1600" dirty="0">
              <a:cs typeface="2  Mitra_2 (MRT)" panose="00000700000000000000" pitchFamily="2" charset="-78"/>
            </a:endParaRPr>
          </a:p>
        </p:txBody>
      </p:sp>
    </p:spTree>
    <p:extLst>
      <p:ext uri="{BB962C8B-B14F-4D97-AF65-F5344CB8AC3E}">
        <p14:creationId xmlns:p14="http://schemas.microsoft.com/office/powerpoint/2010/main" val="3224823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bg/>
                                          </p:spTgt>
                                        </p:tgtEl>
                                        <p:attrNameLst>
                                          <p:attrName>style.visibility</p:attrName>
                                        </p:attrNameLst>
                                      </p:cBhvr>
                                      <p:to>
                                        <p:strVal val="visible"/>
                                      </p:to>
                                    </p:set>
                                    <p:animEffect transition="in" filter="fade">
                                      <p:cBhvr>
                                        <p:cTn id="19" dur="1000"/>
                                        <p:tgtEl>
                                          <p:spTgt spid="7">
                                            <p:bg/>
                                          </p:spTgt>
                                        </p:tgtEl>
                                      </p:cBhvr>
                                    </p:animEffect>
                                    <p:anim calcmode="lin" valueType="num">
                                      <p:cBhvr>
                                        <p:cTn id="20" dur="1000" fill="hold"/>
                                        <p:tgtEl>
                                          <p:spTgt spid="7">
                                            <p:bg/>
                                          </p:spTgt>
                                        </p:tgtEl>
                                        <p:attrNameLst>
                                          <p:attrName>ppt_x</p:attrName>
                                        </p:attrNameLst>
                                      </p:cBhvr>
                                      <p:tavLst>
                                        <p:tav tm="0">
                                          <p:val>
                                            <p:strVal val="#ppt_x"/>
                                          </p:val>
                                        </p:tav>
                                        <p:tav tm="100000">
                                          <p:val>
                                            <p:strVal val="#ppt_x"/>
                                          </p:val>
                                        </p:tav>
                                      </p:tavLst>
                                    </p:anim>
                                    <p:anim calcmode="lin" valueType="num">
                                      <p:cBhvr>
                                        <p:cTn id="21" dur="1000" fill="hold"/>
                                        <p:tgtEl>
                                          <p:spTgt spid="7">
                                            <p:bg/>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0" end="0"/>
                                            </p:txEl>
                                          </p:spTgt>
                                        </p:tgtEl>
                                        <p:attrNameLst>
                                          <p:attrName>style.visibility</p:attrName>
                                        </p:attrNameLst>
                                      </p:cBhvr>
                                      <p:to>
                                        <p:strVal val="visible"/>
                                      </p:to>
                                    </p:set>
                                    <p:animEffect transition="in" filter="fade">
                                      <p:cBhvr>
                                        <p:cTn id="24" dur="1000"/>
                                        <p:tgtEl>
                                          <p:spTgt spid="7">
                                            <p:txEl>
                                              <p:pRg st="0" end="0"/>
                                            </p:txEl>
                                          </p:spTgt>
                                        </p:tgtEl>
                                      </p:cBhvr>
                                    </p:animEffect>
                                    <p:anim calcmode="lin" valueType="num">
                                      <p:cBhvr>
                                        <p:cTn id="2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1" end="1"/>
                                            </p:txEl>
                                          </p:spTgt>
                                        </p:tgtEl>
                                        <p:attrNameLst>
                                          <p:attrName>style.visibility</p:attrName>
                                        </p:attrNameLst>
                                      </p:cBhvr>
                                      <p:to>
                                        <p:strVal val="visible"/>
                                      </p:to>
                                    </p:set>
                                    <p:animEffect transition="in" filter="fade">
                                      <p:cBhvr>
                                        <p:cTn id="29" dur="1000"/>
                                        <p:tgtEl>
                                          <p:spTgt spid="7">
                                            <p:txEl>
                                              <p:pRg st="1" end="1"/>
                                            </p:txEl>
                                          </p:spTgt>
                                        </p:tgtEl>
                                      </p:cBhvr>
                                    </p:animEffect>
                                    <p:anim calcmode="lin" valueType="num">
                                      <p:cBhvr>
                                        <p:cTn id="3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2" end="2"/>
                                            </p:txEl>
                                          </p:spTgt>
                                        </p:tgtEl>
                                        <p:attrNameLst>
                                          <p:attrName>style.visibility</p:attrName>
                                        </p:attrNameLst>
                                      </p:cBhvr>
                                      <p:to>
                                        <p:strVal val="visible"/>
                                      </p:to>
                                    </p:set>
                                    <p:animEffect transition="in" filter="fade">
                                      <p:cBhvr>
                                        <p:cTn id="34" dur="1000"/>
                                        <p:tgtEl>
                                          <p:spTgt spid="7">
                                            <p:txEl>
                                              <p:pRg st="2" end="2"/>
                                            </p:txEl>
                                          </p:spTgt>
                                        </p:tgtEl>
                                      </p:cBhvr>
                                    </p:animEffect>
                                    <p:anim calcmode="lin" valueType="num">
                                      <p:cBhvr>
                                        <p:cTn id="3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7">
                                            <p:txEl>
                                              <p:pRg st="3" end="3"/>
                                            </p:txEl>
                                          </p:spTgt>
                                        </p:tgtEl>
                                        <p:attrNameLst>
                                          <p:attrName>style.visibility</p:attrName>
                                        </p:attrNameLst>
                                      </p:cBhvr>
                                      <p:to>
                                        <p:strVal val="visible"/>
                                      </p:to>
                                    </p:set>
                                    <p:animEffect transition="in" filter="fade">
                                      <p:cBhvr>
                                        <p:cTn id="39" dur="1000"/>
                                        <p:tgtEl>
                                          <p:spTgt spid="7">
                                            <p:txEl>
                                              <p:pRg st="3" end="3"/>
                                            </p:txEl>
                                          </p:spTgt>
                                        </p:tgtEl>
                                      </p:cBhvr>
                                    </p:animEffect>
                                    <p:anim calcmode="lin" valueType="num">
                                      <p:cBhvr>
                                        <p:cTn id="4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7">
                                            <p:txEl>
                                              <p:pRg st="4" end="4"/>
                                            </p:txEl>
                                          </p:spTgt>
                                        </p:tgtEl>
                                        <p:attrNameLst>
                                          <p:attrName>style.visibility</p:attrName>
                                        </p:attrNameLst>
                                      </p:cBhvr>
                                      <p:to>
                                        <p:strVal val="visible"/>
                                      </p:to>
                                    </p:set>
                                    <p:animEffect transition="in" filter="fade">
                                      <p:cBhvr>
                                        <p:cTn id="44" dur="1000"/>
                                        <p:tgtEl>
                                          <p:spTgt spid="7">
                                            <p:txEl>
                                              <p:pRg st="4" end="4"/>
                                            </p:txEl>
                                          </p:spTgt>
                                        </p:tgtEl>
                                      </p:cBhvr>
                                    </p:animEffect>
                                    <p:anim calcmode="lin" valueType="num">
                                      <p:cBhvr>
                                        <p:cTn id="4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6" dur="1000" fill="hold"/>
                                        <p:tgtEl>
                                          <p:spTgt spid="7">
                                            <p:txEl>
                                              <p:pRg st="4" end="4"/>
                                            </p:txEl>
                                          </p:spTgt>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7">
                                            <p:txEl>
                                              <p:pRg st="6" end="6"/>
                                            </p:txEl>
                                          </p:spTgt>
                                        </p:tgtEl>
                                        <p:attrNameLst>
                                          <p:attrName>style.visibility</p:attrName>
                                        </p:attrNameLst>
                                      </p:cBhvr>
                                      <p:to>
                                        <p:strVal val="visible"/>
                                      </p:to>
                                    </p:set>
                                    <p:animEffect transition="in" filter="fade">
                                      <p:cBhvr>
                                        <p:cTn id="54" dur="1000"/>
                                        <p:tgtEl>
                                          <p:spTgt spid="7">
                                            <p:txEl>
                                              <p:pRg st="6" end="6"/>
                                            </p:txEl>
                                          </p:spTgt>
                                        </p:tgtEl>
                                      </p:cBhvr>
                                    </p:animEffect>
                                    <p:anim calcmode="lin" valueType="num">
                                      <p:cBhvr>
                                        <p:cTn id="55"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6"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build="allAtOnce"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1E6F58C-1F01-75D2-6D08-8E55E72C3C97}"/>
              </a:ext>
            </a:extLst>
          </p:cNvPr>
          <p:cNvSpPr/>
          <p:nvPr/>
        </p:nvSpPr>
        <p:spPr>
          <a:xfrm>
            <a:off x="3956115" y="282805"/>
            <a:ext cx="4279769" cy="867266"/>
          </a:xfrm>
          <a:prstGeom prst="rect">
            <a:avLst/>
          </a:prstGeom>
          <a:solidFill>
            <a:schemeClr val="bg1">
              <a:lumMod val="85000"/>
              <a:lumOff val="1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2400" b="1" dirty="0">
                <a:cs typeface="2  Mitra_2 (MRT)" panose="00000700000000000000" pitchFamily="2" charset="-78"/>
              </a:rPr>
              <a:t> بارگذاری داده و انتخاب ویژگی‌ها</a:t>
            </a:r>
          </a:p>
          <a:p>
            <a:pPr algn="ctr" rtl="1"/>
            <a:endParaRPr lang="en-US" sz="2400" dirty="0">
              <a:cs typeface="2  Mitra_2 (MRT)" panose="00000700000000000000" pitchFamily="2" charset="-78"/>
            </a:endParaRPr>
          </a:p>
        </p:txBody>
      </p:sp>
      <p:pic>
        <p:nvPicPr>
          <p:cNvPr id="4" name="Picture 3">
            <a:extLst>
              <a:ext uri="{FF2B5EF4-FFF2-40B4-BE49-F238E27FC236}">
                <a16:creationId xmlns:a16="http://schemas.microsoft.com/office/drawing/2014/main" id="{A6F423F6-175C-F2D8-32CA-71E969D71D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9326" y="2395393"/>
            <a:ext cx="6598486" cy="2067213"/>
          </a:xfrm>
          <a:prstGeom prst="roundRect">
            <a:avLst>
              <a:gd name="adj" fmla="val 8594"/>
            </a:avLst>
          </a:prstGeom>
          <a:solidFill>
            <a:srgbClr val="FFFFFF">
              <a:shade val="85000"/>
            </a:srgbClr>
          </a:solidFill>
          <a:ln>
            <a:noFill/>
          </a:ln>
          <a:effectLst>
            <a:glow rad="63500">
              <a:schemeClr val="accent4">
                <a:satMod val="175000"/>
                <a:alpha val="40000"/>
              </a:schemeClr>
            </a:glow>
            <a:outerShdw blurRad="44450" dist="27940" dir="5400000" algn="ctr">
              <a:srgbClr val="000000">
                <a:alpha val="32000"/>
              </a:srgbClr>
            </a:outerShdw>
            <a:reflection blurRad="12700" stA="38000" endPos="28000" dist="5000" dir="5400000" sy="-100000" algn="bl" rotWithShape="0"/>
          </a:effectLst>
          <a:scene3d>
            <a:camera prst="orthographicFront">
              <a:rot lat="0" lon="0" rev="0"/>
            </a:camera>
            <a:lightRig rig="balanced" dir="t">
              <a:rot lat="0" lon="0" rev="8700000"/>
            </a:lightRig>
          </a:scene3d>
          <a:sp3d/>
        </p:spPr>
      </p:pic>
      <p:sp>
        <p:nvSpPr>
          <p:cNvPr id="5" name="Rectangle 4">
            <a:extLst>
              <a:ext uri="{FF2B5EF4-FFF2-40B4-BE49-F238E27FC236}">
                <a16:creationId xmlns:a16="http://schemas.microsoft.com/office/drawing/2014/main" id="{92FCC6D2-DB3F-EC9E-75C2-9A4FE4442F3B}"/>
              </a:ext>
            </a:extLst>
          </p:cNvPr>
          <p:cNvSpPr/>
          <p:nvPr/>
        </p:nvSpPr>
        <p:spPr>
          <a:xfrm>
            <a:off x="7390615" y="1621410"/>
            <a:ext cx="4546584" cy="3883844"/>
          </a:xfrm>
          <a:prstGeom prst="rect">
            <a:avLst/>
          </a:prstGeom>
          <a:solidFill>
            <a:schemeClr val="bg1">
              <a:lumMod val="85000"/>
              <a:lumOff val="1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r" rtl="1">
              <a:lnSpc>
                <a:spcPct val="150000"/>
              </a:lnSpc>
              <a:buFont typeface="Arial" panose="020B0604020202020204" pitchFamily="34" charset="0"/>
              <a:buChar char="•"/>
            </a:pPr>
            <a:r>
              <a:rPr lang="en-US" dirty="0" err="1">
                <a:cs typeface="2  Mitra_2 (MRT)" panose="00000700000000000000" pitchFamily="2" charset="-78"/>
              </a:rPr>
              <a:t>iris.data</a:t>
            </a:r>
            <a:r>
              <a:rPr lang="en-US" dirty="0">
                <a:cs typeface="2  Mitra_2 (MRT)" panose="00000700000000000000" pitchFamily="2" charset="-78"/>
              </a:rPr>
              <a:t> </a:t>
            </a:r>
            <a:r>
              <a:rPr lang="fa-IR" dirty="0">
                <a:cs typeface="2  Mitra_2 (MRT)" panose="00000700000000000000" pitchFamily="2" charset="-78"/>
              </a:rPr>
              <a:t>یک آرایه ۱۵۰×۴ است (۴ ویژگی). ما فقط دو ستون اول (:2) را می‌گیریم تا بتوانیم در فضای دوبعدی رسم کنیم.</a:t>
            </a:r>
          </a:p>
          <a:p>
            <a:pPr algn="r" rtl="1">
              <a:lnSpc>
                <a:spcPct val="150000"/>
              </a:lnSpc>
            </a:pPr>
            <a:r>
              <a:rPr lang="en-US" dirty="0">
                <a:cs typeface="2  Mitra_2 (MRT)" panose="00000700000000000000" pitchFamily="2" charset="-78"/>
              </a:rPr>
              <a:t> </a:t>
            </a:r>
            <a:r>
              <a:rPr lang="en-US" dirty="0" err="1">
                <a:cs typeface="2  Mitra_2 (MRT)" panose="00000700000000000000" pitchFamily="2" charset="-78"/>
              </a:rPr>
              <a:t>iris.target</a:t>
            </a:r>
            <a:r>
              <a:rPr lang="en-US" dirty="0">
                <a:cs typeface="2  Mitra_2 (MRT)" panose="00000700000000000000" pitchFamily="2" charset="-78"/>
              </a:rPr>
              <a:t> </a:t>
            </a:r>
            <a:r>
              <a:rPr lang="fa-IR" dirty="0">
                <a:cs typeface="2  Mitra_2 (MRT)" panose="00000700000000000000" pitchFamily="2" charset="-78"/>
              </a:rPr>
              <a:t>برچسب کلاس (۰، ۱، ۲) و </a:t>
            </a:r>
            <a:r>
              <a:rPr lang="en-US" dirty="0">
                <a:cs typeface="2  Mitra_2 (MRT)" panose="00000700000000000000" pitchFamily="2" charset="-78"/>
              </a:rPr>
              <a:t>    </a:t>
            </a:r>
            <a:r>
              <a:rPr lang="en-US" dirty="0" err="1">
                <a:cs typeface="2  Mitra_2 (MRT)" panose="00000700000000000000" pitchFamily="2" charset="-78"/>
              </a:rPr>
              <a:t>target_names</a:t>
            </a:r>
            <a:r>
              <a:rPr lang="en-US" dirty="0">
                <a:cs typeface="2  Mitra_2 (MRT)" panose="00000700000000000000" pitchFamily="2" charset="-78"/>
              </a:rPr>
              <a:t> </a:t>
            </a:r>
            <a:r>
              <a:rPr lang="fa-IR" dirty="0">
                <a:cs typeface="2  Mitra_2 (MRT)" panose="00000700000000000000" pitchFamily="2" charset="-78"/>
              </a:rPr>
              <a:t>نام کلاس‌ها (مثلاً</a:t>
            </a:r>
            <a:r>
              <a:rPr lang="en-US" dirty="0">
                <a:cs typeface="2  Mitra_2 (MRT)" panose="00000700000000000000" pitchFamily="2" charset="-78"/>
              </a:rPr>
              <a:t>  (‘</a:t>
            </a:r>
            <a:r>
              <a:rPr lang="en-US" dirty="0" err="1">
                <a:cs typeface="2  Mitra_2 (MRT)" panose="00000700000000000000" pitchFamily="2" charset="-78"/>
              </a:rPr>
              <a:t>setosa</a:t>
            </a:r>
            <a:r>
              <a:rPr lang="en-US" dirty="0">
                <a:cs typeface="2  Mitra_2 (MRT)" panose="00000700000000000000" pitchFamily="2" charset="-78"/>
              </a:rPr>
              <a:t>'</a:t>
            </a:r>
            <a:r>
              <a:rPr lang="fa-IR" dirty="0">
                <a:cs typeface="2  Mitra_2 (MRT)" panose="00000700000000000000" pitchFamily="2" charset="-78"/>
              </a:rPr>
              <a:t>است.</a:t>
            </a:r>
          </a:p>
          <a:p>
            <a:pPr algn="r" rtl="1">
              <a:lnSpc>
                <a:spcPct val="150000"/>
              </a:lnSpc>
            </a:pPr>
            <a:r>
              <a:rPr lang="en-US" dirty="0">
                <a:cs typeface="2  Mitra_2 (MRT)" panose="00000700000000000000" pitchFamily="2" charset="-78"/>
              </a:rPr>
              <a:t> </a:t>
            </a:r>
            <a:r>
              <a:rPr lang="en-US" dirty="0" err="1">
                <a:cs typeface="2  Mitra_2 (MRT)" panose="00000700000000000000" pitchFamily="2" charset="-78"/>
              </a:rPr>
              <a:t>feature_names</a:t>
            </a:r>
            <a:r>
              <a:rPr lang="en-US" dirty="0">
                <a:cs typeface="2  Mitra_2 (MRT)" panose="00000700000000000000" pitchFamily="2" charset="-78"/>
              </a:rPr>
              <a:t> </a:t>
            </a:r>
            <a:r>
              <a:rPr lang="fa-IR" dirty="0">
                <a:cs typeface="2  Mitra_2 (MRT)" panose="00000700000000000000" pitchFamily="2" charset="-78"/>
              </a:rPr>
              <a:t>برای برچسب محورهای نمودار استفاده می‌شود.</a:t>
            </a:r>
          </a:p>
          <a:p>
            <a:pPr algn="r" rtl="1">
              <a:lnSpc>
                <a:spcPct val="150000"/>
              </a:lnSpc>
            </a:pPr>
            <a:endParaRPr lang="en-US" dirty="0">
              <a:cs typeface="2  Mitra_2 (MRT)" panose="00000700000000000000" pitchFamily="2" charset="-78"/>
            </a:endParaRPr>
          </a:p>
        </p:txBody>
      </p:sp>
    </p:spTree>
    <p:extLst>
      <p:ext uri="{BB962C8B-B14F-4D97-AF65-F5344CB8AC3E}">
        <p14:creationId xmlns:p14="http://schemas.microsoft.com/office/powerpoint/2010/main" val="2877635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
                                            <p:bg/>
                                          </p:spTgt>
                                        </p:tgtEl>
                                        <p:attrNameLst>
                                          <p:attrName>style.visibility</p:attrName>
                                        </p:attrNameLst>
                                      </p:cBhvr>
                                      <p:to>
                                        <p:strVal val="visible"/>
                                      </p:to>
                                    </p:set>
                                    <p:animEffect transition="in" filter="fade">
                                      <p:cBhvr>
                                        <p:cTn id="12" dur="1000"/>
                                        <p:tgtEl>
                                          <p:spTgt spid="5">
                                            <p:bg/>
                                          </p:spTgt>
                                        </p:tgtEl>
                                      </p:cBhvr>
                                    </p:animEffect>
                                    <p:anim calcmode="lin" valueType="num">
                                      <p:cBhvr>
                                        <p:cTn id="13" dur="1000" fill="hold"/>
                                        <p:tgtEl>
                                          <p:spTgt spid="5">
                                            <p:bg/>
                                          </p:spTgt>
                                        </p:tgtEl>
                                        <p:attrNameLst>
                                          <p:attrName>ppt_x</p:attrName>
                                        </p:attrNameLst>
                                      </p:cBhvr>
                                      <p:tavLst>
                                        <p:tav tm="0">
                                          <p:val>
                                            <p:strVal val="#ppt_x"/>
                                          </p:val>
                                        </p:tav>
                                        <p:tav tm="100000">
                                          <p:val>
                                            <p:strVal val="#ppt_x"/>
                                          </p:val>
                                        </p:tav>
                                      </p:tavLst>
                                    </p:anim>
                                    <p:anim calcmode="lin" valueType="num">
                                      <p:cBhvr>
                                        <p:cTn id="14" dur="1000" fill="hold"/>
                                        <p:tgtEl>
                                          <p:spTgt spid="5">
                                            <p:bg/>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fade">
                                      <p:cBhvr>
                                        <p:cTn id="17" dur="1000"/>
                                        <p:tgtEl>
                                          <p:spTgt spid="5">
                                            <p:txEl>
                                              <p:pRg st="0" end="0"/>
                                            </p:txEl>
                                          </p:spTgt>
                                        </p:tgtEl>
                                      </p:cBhvr>
                                    </p:animEffect>
                                    <p:anim calcmode="lin" valueType="num">
                                      <p:cBhvr>
                                        <p:cTn id="1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0" end="0"/>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5">
                                            <p:txEl>
                                              <p:pRg st="1" end="1"/>
                                            </p:txEl>
                                          </p:spTgt>
                                        </p:tgtEl>
                                        <p:attrNameLst>
                                          <p:attrName>style.visibility</p:attrName>
                                        </p:attrNameLst>
                                      </p:cBhvr>
                                      <p:to>
                                        <p:strVal val="visible"/>
                                      </p:to>
                                    </p:set>
                                    <p:animEffect transition="in" filter="fade">
                                      <p:cBhvr>
                                        <p:cTn id="22" dur="1000"/>
                                        <p:tgtEl>
                                          <p:spTgt spid="5">
                                            <p:txEl>
                                              <p:pRg st="1" end="1"/>
                                            </p:txEl>
                                          </p:spTgt>
                                        </p:tgtEl>
                                      </p:cBhvr>
                                    </p:animEffect>
                                    <p:anim calcmode="lin" valueType="num">
                                      <p:cBhvr>
                                        <p:cTn id="23"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1" end="1"/>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animEffect transition="in" filter="fade">
                                      <p:cBhvr>
                                        <p:cTn id="27" dur="1000"/>
                                        <p:tgtEl>
                                          <p:spTgt spid="5">
                                            <p:txEl>
                                              <p:pRg st="2" end="2"/>
                                            </p:txEl>
                                          </p:spTgt>
                                        </p:tgtEl>
                                      </p:cBhvr>
                                    </p:animEffect>
                                    <p:anim calcmode="lin" valueType="num">
                                      <p:cBhvr>
                                        <p:cTn id="2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fade">
                                      <p:cBhvr>
                                        <p:cTn id="34" dur="1000"/>
                                        <p:tgtEl>
                                          <p:spTgt spid="2"/>
                                        </p:tgtEl>
                                      </p:cBhvr>
                                    </p:animEffect>
                                    <p:anim calcmode="lin" valueType="num">
                                      <p:cBhvr>
                                        <p:cTn id="35" dur="1000" fill="hold"/>
                                        <p:tgtEl>
                                          <p:spTgt spid="2"/>
                                        </p:tgtEl>
                                        <p:attrNameLst>
                                          <p:attrName>ppt_x</p:attrName>
                                        </p:attrNameLst>
                                      </p:cBhvr>
                                      <p:tavLst>
                                        <p:tav tm="0">
                                          <p:val>
                                            <p:strVal val="#ppt_x"/>
                                          </p:val>
                                        </p:tav>
                                        <p:tav tm="100000">
                                          <p:val>
                                            <p:strVal val="#ppt_x"/>
                                          </p:val>
                                        </p:tav>
                                      </p:tavLst>
                                    </p:anim>
                                    <p:anim calcmode="lin" valueType="num">
                                      <p:cBhvr>
                                        <p:cTn id="3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build="allAtOnce"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CF24B81-EFF4-FF40-58F8-6F9030FA55A5}"/>
              </a:ext>
            </a:extLst>
          </p:cNvPr>
          <p:cNvSpPr/>
          <p:nvPr/>
        </p:nvSpPr>
        <p:spPr>
          <a:xfrm>
            <a:off x="3613608" y="339365"/>
            <a:ext cx="4964784" cy="1018095"/>
          </a:xfrm>
          <a:prstGeom prst="rect">
            <a:avLst/>
          </a:prstGeom>
          <a:solidFill>
            <a:schemeClr val="bg1">
              <a:lumMod val="85000"/>
              <a:lumOff val="1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2400" b="1" dirty="0">
                <a:cs typeface="2  Mitra_2 (MRT)" panose="00000700000000000000" pitchFamily="2" charset="-78"/>
              </a:rPr>
              <a:t>نرمال‌سازی داده‌ها</a:t>
            </a:r>
            <a:r>
              <a:rPr lang="en-US" sz="2400" b="1" dirty="0">
                <a:cs typeface="2  Mitra_2 (MRT)" panose="00000700000000000000" pitchFamily="2" charset="-78"/>
              </a:rPr>
              <a:t>( Standardization)</a:t>
            </a:r>
          </a:p>
        </p:txBody>
      </p:sp>
      <p:pic>
        <p:nvPicPr>
          <p:cNvPr id="5" name="Picture 4">
            <a:extLst>
              <a:ext uri="{FF2B5EF4-FFF2-40B4-BE49-F238E27FC236}">
                <a16:creationId xmlns:a16="http://schemas.microsoft.com/office/drawing/2014/main" id="{E887279D-CB1B-CDF6-28E1-53F396B02A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2037" y="4001434"/>
            <a:ext cx="6874627" cy="1400370"/>
          </a:xfrm>
          <a:prstGeom prst="roundRect">
            <a:avLst>
              <a:gd name="adj" fmla="val 4167"/>
            </a:avLst>
          </a:prstGeom>
          <a:solidFill>
            <a:srgbClr val="FFFFFF"/>
          </a:solidFill>
          <a:ln w="76200" cap="sq">
            <a:solidFill>
              <a:srgbClr val="292929"/>
            </a:solidFill>
            <a:miter lim="800000"/>
          </a:ln>
          <a:effectLst>
            <a:glow rad="63500">
              <a:schemeClr val="accent5">
                <a:satMod val="175000"/>
                <a:alpha val="40000"/>
              </a:schemeClr>
            </a:glow>
            <a:reflection blurRad="6350" stA="50000" endA="300" endPos="55000" dir="5400000" sy="-100000" algn="bl" rotWithShape="0"/>
          </a:effectLst>
          <a:scene3d>
            <a:camera prst="orthographicFront"/>
            <a:lightRig rig="threePt" dir="t">
              <a:rot lat="0" lon="0" rev="2700000"/>
            </a:lightRig>
          </a:scene3d>
          <a:sp3d>
            <a:bevelT h="38100"/>
            <a:contourClr>
              <a:srgbClr val="C0C0C0"/>
            </a:contourClr>
          </a:sp3d>
        </p:spPr>
      </p:pic>
      <p:sp>
        <p:nvSpPr>
          <p:cNvPr id="6" name="Rectangle 5">
            <a:extLst>
              <a:ext uri="{FF2B5EF4-FFF2-40B4-BE49-F238E27FC236}">
                <a16:creationId xmlns:a16="http://schemas.microsoft.com/office/drawing/2014/main" id="{3CE4803F-FA7C-A5D6-C481-D4CA8008DFC9}"/>
              </a:ext>
            </a:extLst>
          </p:cNvPr>
          <p:cNvSpPr/>
          <p:nvPr/>
        </p:nvSpPr>
        <p:spPr>
          <a:xfrm>
            <a:off x="7541443" y="1828800"/>
            <a:ext cx="4515439" cy="3836709"/>
          </a:xfrm>
          <a:prstGeom prst="rect">
            <a:avLst/>
          </a:prstGeom>
          <a:solidFill>
            <a:schemeClr val="bg1">
              <a:lumMod val="85000"/>
              <a:lumOff val="1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r" rtl="1">
              <a:buFont typeface="Arial" panose="020B0604020202020204" pitchFamily="34" charset="0"/>
              <a:buChar char="•"/>
            </a:pPr>
            <a:r>
              <a:rPr lang="en-US" dirty="0">
                <a:cs typeface="2  Mitra_2 (MRT)" panose="00000700000000000000" pitchFamily="2" charset="-78"/>
              </a:rPr>
              <a:t> </a:t>
            </a:r>
            <a:r>
              <a:rPr lang="en-US" dirty="0" err="1">
                <a:cs typeface="2  Mitra_2 (MRT)" panose="00000700000000000000" pitchFamily="2" charset="-78"/>
              </a:rPr>
              <a:t>fit_transform</a:t>
            </a:r>
            <a:r>
              <a:rPr lang="en-US" dirty="0">
                <a:cs typeface="2  Mitra_2 (MRT)" panose="00000700000000000000" pitchFamily="2" charset="-78"/>
              </a:rPr>
              <a:t> </a:t>
            </a:r>
            <a:r>
              <a:rPr lang="fa-IR" dirty="0">
                <a:cs typeface="2  Mitra_2 (MRT)" panose="00000700000000000000" pitchFamily="2" charset="-78"/>
              </a:rPr>
              <a:t>ابتدا میانگین و انحراف معیار هر ویژگی را روی داده </a:t>
            </a:r>
            <a:r>
              <a:rPr lang="en-US" dirty="0">
                <a:cs typeface="2  Mitra_2 (MRT)" panose="00000700000000000000" pitchFamily="2" charset="-78"/>
              </a:rPr>
              <a:t>X </a:t>
            </a:r>
            <a:r>
              <a:rPr lang="fa-IR" dirty="0">
                <a:cs typeface="2  Mitra_2 (MRT)" panose="00000700000000000000" pitchFamily="2" charset="-78"/>
              </a:rPr>
              <a:t>محاسبه می‌کند (</a:t>
            </a:r>
            <a:r>
              <a:rPr lang="en-US" dirty="0">
                <a:cs typeface="2  Mitra_2 (MRT)" panose="00000700000000000000" pitchFamily="2" charset="-78"/>
              </a:rPr>
              <a:t> (fit</a:t>
            </a:r>
            <a:r>
              <a:rPr lang="fa-IR" dirty="0">
                <a:cs typeface="2  Mitra_2 (MRT)" panose="00000700000000000000" pitchFamily="2" charset="-78"/>
              </a:rPr>
              <a:t>و سپس تبدیل را اعمال می‌کند (</a:t>
            </a:r>
            <a:r>
              <a:rPr lang="en-US" dirty="0">
                <a:cs typeface="2  Mitra_2 (MRT)" panose="00000700000000000000" pitchFamily="2" charset="-78"/>
              </a:rPr>
              <a:t>.(transform</a:t>
            </a:r>
          </a:p>
          <a:p>
            <a:pPr algn="r" rtl="1"/>
            <a:endParaRPr lang="en-US" dirty="0">
              <a:cs typeface="2  Mitra_2 (MRT)" panose="00000700000000000000" pitchFamily="2" charset="-78"/>
            </a:endParaRPr>
          </a:p>
          <a:p>
            <a:pPr algn="r" rtl="1"/>
            <a:r>
              <a:rPr lang="fa-IR" dirty="0">
                <a:cs typeface="2  Mitra_2 (MRT)" panose="00000700000000000000" pitchFamily="2" charset="-78"/>
              </a:rPr>
              <a:t>نتیجه: هر ویژگی دارای میانگین ۰ و انحراف معیار ۱ می‌شود. این کار باعث می‌شود فاصله اقلیدسی معنی‌دار باشد.</a:t>
            </a:r>
          </a:p>
          <a:p>
            <a:pPr algn="r" rtl="1"/>
            <a:br>
              <a:rPr lang="fa-IR" dirty="0">
                <a:cs typeface="2  Mitra_2 (MRT)" panose="00000700000000000000" pitchFamily="2" charset="-78"/>
              </a:rPr>
            </a:br>
            <a:endParaRPr lang="en-US" dirty="0">
              <a:cs typeface="2  Mitra_2 (MRT)" panose="00000700000000000000" pitchFamily="2" charset="-78"/>
            </a:endParaRPr>
          </a:p>
        </p:txBody>
      </p:sp>
    </p:spTree>
    <p:extLst>
      <p:ext uri="{BB962C8B-B14F-4D97-AF65-F5344CB8AC3E}">
        <p14:creationId xmlns:p14="http://schemas.microsoft.com/office/powerpoint/2010/main" val="2645486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bg/>
                                          </p:spTgt>
                                        </p:tgtEl>
                                        <p:attrNameLst>
                                          <p:attrName>style.visibility</p:attrName>
                                        </p:attrNameLst>
                                      </p:cBhvr>
                                      <p:to>
                                        <p:strVal val="visible"/>
                                      </p:to>
                                    </p:set>
                                    <p:animEffect transition="in" filter="fade">
                                      <p:cBhvr>
                                        <p:cTn id="12" dur="1000"/>
                                        <p:tgtEl>
                                          <p:spTgt spid="3">
                                            <p:bg/>
                                          </p:spTgt>
                                        </p:tgtEl>
                                      </p:cBhvr>
                                    </p:animEffect>
                                    <p:anim calcmode="lin" valueType="num">
                                      <p:cBhvr>
                                        <p:cTn id="13" dur="1000" fill="hold"/>
                                        <p:tgtEl>
                                          <p:spTgt spid="3">
                                            <p:bg/>
                                          </p:spTgt>
                                        </p:tgtEl>
                                        <p:attrNameLst>
                                          <p:attrName>ppt_x</p:attrName>
                                        </p:attrNameLst>
                                      </p:cBhvr>
                                      <p:tavLst>
                                        <p:tav tm="0">
                                          <p:val>
                                            <p:strVal val="#ppt_x"/>
                                          </p:val>
                                        </p:tav>
                                        <p:tav tm="100000">
                                          <p:val>
                                            <p:strVal val="#ppt_x"/>
                                          </p:val>
                                        </p:tav>
                                      </p:tavLst>
                                    </p:anim>
                                    <p:anim calcmode="lin" valueType="num">
                                      <p:cBhvr>
                                        <p:cTn id="14" dur="1000" fill="hold"/>
                                        <p:tgtEl>
                                          <p:spTgt spid="3">
                                            <p:bg/>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1000"/>
                                        <p:tgtEl>
                                          <p:spTgt spid="3">
                                            <p:txEl>
                                              <p:pRg st="0" end="0"/>
                                            </p:txEl>
                                          </p:spTgt>
                                        </p:tgtEl>
                                      </p:cBhvr>
                                    </p:animEffect>
                                    <p:anim calcmode="lin" valueType="num">
                                      <p:cBhvr>
                                        <p:cTn id="1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1000"/>
                                        <p:tgtEl>
                                          <p:spTgt spid="6"/>
                                        </p:tgtEl>
                                      </p:cBhvr>
                                    </p:animEffect>
                                    <p:anim calcmode="lin" valueType="num">
                                      <p:cBhvr>
                                        <p:cTn id="25" dur="1000" fill="hold"/>
                                        <p:tgtEl>
                                          <p:spTgt spid="6"/>
                                        </p:tgtEl>
                                        <p:attrNameLst>
                                          <p:attrName>ppt_x</p:attrName>
                                        </p:attrNameLst>
                                      </p:cBhvr>
                                      <p:tavLst>
                                        <p:tav tm="0">
                                          <p:val>
                                            <p:strVal val="#ppt_x"/>
                                          </p:val>
                                        </p:tav>
                                        <p:tav tm="100000">
                                          <p:val>
                                            <p:strVal val="#ppt_x"/>
                                          </p:val>
                                        </p:tav>
                                      </p:tavLst>
                                    </p:anim>
                                    <p:anim calcmode="lin" valueType="num">
                                      <p:cBhvr>
                                        <p:cTn id="2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animBg="1"/>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5BFADBA-E4CF-9FDF-107F-01327B77ABDC}"/>
              </a:ext>
            </a:extLst>
          </p:cNvPr>
          <p:cNvSpPr/>
          <p:nvPr/>
        </p:nvSpPr>
        <p:spPr>
          <a:xfrm>
            <a:off x="4422742" y="358219"/>
            <a:ext cx="3346515" cy="952108"/>
          </a:xfrm>
          <a:prstGeom prst="rect">
            <a:avLst/>
          </a:prstGeom>
          <a:solidFill>
            <a:schemeClr val="bg1">
              <a:lumMod val="85000"/>
              <a:lumOff val="1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2400" b="1" dirty="0">
                <a:cs typeface="2  Mitra_2 (MRT)" panose="00000700000000000000" pitchFamily="2" charset="-78"/>
              </a:rPr>
              <a:t>تعریف نقطه جدید و مقیاس‌سازی آن</a:t>
            </a:r>
          </a:p>
        </p:txBody>
      </p:sp>
      <p:pic>
        <p:nvPicPr>
          <p:cNvPr id="4" name="Picture 3">
            <a:extLst>
              <a:ext uri="{FF2B5EF4-FFF2-40B4-BE49-F238E27FC236}">
                <a16:creationId xmlns:a16="http://schemas.microsoft.com/office/drawing/2014/main" id="{0CC74AF4-CBDF-A7E6-742E-254BB708A1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794" y="3615133"/>
            <a:ext cx="6478104" cy="1362265"/>
          </a:xfrm>
          <a:prstGeom prst="rect">
            <a:avLst/>
          </a:prstGeom>
          <a:effectLst>
            <a:glow rad="63500">
              <a:schemeClr val="accent5">
                <a:satMod val="175000"/>
                <a:alpha val="40000"/>
              </a:schemeClr>
            </a:glow>
            <a:reflection blurRad="6350" stA="50000" endA="300" endPos="55000" dir="5400000" sy="-100000" algn="bl" rotWithShape="0"/>
          </a:effectLst>
        </p:spPr>
      </p:pic>
      <p:sp>
        <p:nvSpPr>
          <p:cNvPr id="5" name="Rectangle 4">
            <a:extLst>
              <a:ext uri="{FF2B5EF4-FFF2-40B4-BE49-F238E27FC236}">
                <a16:creationId xmlns:a16="http://schemas.microsoft.com/office/drawing/2014/main" id="{6FD068DB-506A-9479-6446-EF9E0A2792C6}"/>
              </a:ext>
            </a:extLst>
          </p:cNvPr>
          <p:cNvSpPr/>
          <p:nvPr/>
        </p:nvSpPr>
        <p:spPr>
          <a:xfrm>
            <a:off x="7334054" y="1611984"/>
            <a:ext cx="4449451" cy="3714160"/>
          </a:xfrm>
          <a:prstGeom prst="rect">
            <a:avLst/>
          </a:prstGeom>
          <a:solidFill>
            <a:schemeClr val="bg1">
              <a:lumMod val="85000"/>
              <a:lumOff val="1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lnSpc>
                <a:spcPct val="150000"/>
              </a:lnSpc>
            </a:pPr>
            <a:r>
              <a:rPr lang="fa-IR" dirty="0">
                <a:cs typeface="2  Mitra_2 (MRT)" panose="00000700000000000000" pitchFamily="2" charset="-78"/>
              </a:rPr>
              <a:t>نقطه جدید را با همان ویژگی‌ها (طول کاسبرگ ۵.۲، عرض کاسبرگ ۳.۶) تعریف می‌کنیم. شکل (1,2) برای یک نمونه با دو ویژگی.</a:t>
            </a:r>
          </a:p>
          <a:p>
            <a:pPr algn="r" rtl="1">
              <a:lnSpc>
                <a:spcPct val="150000"/>
              </a:lnSpc>
            </a:pPr>
            <a:r>
              <a:rPr lang="fa-IR" dirty="0">
                <a:cs typeface="2  Mitra_2 (MRT)" panose="00000700000000000000" pitchFamily="2" charset="-78"/>
              </a:rPr>
              <a:t>حتماً باید همین </a:t>
            </a:r>
            <a:r>
              <a:rPr lang="en-US" dirty="0">
                <a:cs typeface="2  Mitra_2 (MRT)" panose="00000700000000000000" pitchFamily="2" charset="-78"/>
              </a:rPr>
              <a:t>scaler </a:t>
            </a:r>
            <a:r>
              <a:rPr lang="fa-IR" dirty="0">
                <a:cs typeface="2  Mitra_2 (MRT)" panose="00000700000000000000" pitchFamily="2" charset="-78"/>
              </a:rPr>
              <a:t>که روی داده آموزشی </a:t>
            </a:r>
            <a:r>
              <a:rPr lang="en-US" dirty="0">
                <a:cs typeface="2  Mitra_2 (MRT)" panose="00000700000000000000" pitchFamily="2" charset="-78"/>
              </a:rPr>
              <a:t>fit </a:t>
            </a:r>
            <a:r>
              <a:rPr lang="fa-IR" dirty="0">
                <a:cs typeface="2  Mitra_2 (MRT)" panose="00000700000000000000" pitchFamily="2" charset="-78"/>
              </a:rPr>
              <a:t>شده را برای تبدیل نقطه جدید استفاده کنیم تا در فضای یکسان قرار گیرد.</a:t>
            </a:r>
          </a:p>
        </p:txBody>
      </p:sp>
    </p:spTree>
    <p:extLst>
      <p:ext uri="{BB962C8B-B14F-4D97-AF65-F5344CB8AC3E}">
        <p14:creationId xmlns:p14="http://schemas.microsoft.com/office/powerpoint/2010/main" val="3139907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
                                            <p:bg/>
                                          </p:spTgt>
                                        </p:tgtEl>
                                        <p:attrNameLst>
                                          <p:attrName>style.visibility</p:attrName>
                                        </p:attrNameLst>
                                      </p:cBhvr>
                                      <p:to>
                                        <p:strVal val="visible"/>
                                      </p:to>
                                    </p:set>
                                    <p:animEffect transition="in" filter="fade">
                                      <p:cBhvr>
                                        <p:cTn id="19" dur="1000"/>
                                        <p:tgtEl>
                                          <p:spTgt spid="2">
                                            <p:bg/>
                                          </p:spTgt>
                                        </p:tgtEl>
                                      </p:cBhvr>
                                    </p:animEffect>
                                    <p:anim calcmode="lin" valueType="num">
                                      <p:cBhvr>
                                        <p:cTn id="20" dur="1000" fill="hold"/>
                                        <p:tgtEl>
                                          <p:spTgt spid="2">
                                            <p:bg/>
                                          </p:spTgt>
                                        </p:tgtEl>
                                        <p:attrNameLst>
                                          <p:attrName>ppt_x</p:attrName>
                                        </p:attrNameLst>
                                      </p:cBhvr>
                                      <p:tavLst>
                                        <p:tav tm="0">
                                          <p:val>
                                            <p:strVal val="#ppt_x"/>
                                          </p:val>
                                        </p:tav>
                                        <p:tav tm="100000">
                                          <p:val>
                                            <p:strVal val="#ppt_x"/>
                                          </p:val>
                                        </p:tav>
                                      </p:tavLst>
                                    </p:anim>
                                    <p:anim calcmode="lin" valueType="num">
                                      <p:cBhvr>
                                        <p:cTn id="21" dur="1000" fill="hold"/>
                                        <p:tgtEl>
                                          <p:spTgt spid="2">
                                            <p:bg/>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
                                            <p:txEl>
                                              <p:pRg st="0" end="0"/>
                                            </p:txEl>
                                          </p:spTgt>
                                        </p:tgtEl>
                                        <p:attrNameLst>
                                          <p:attrName>style.visibility</p:attrName>
                                        </p:attrNameLst>
                                      </p:cBhvr>
                                      <p:to>
                                        <p:strVal val="visible"/>
                                      </p:to>
                                    </p:set>
                                    <p:animEffect transition="in" filter="fade">
                                      <p:cBhvr>
                                        <p:cTn id="24" dur="1000"/>
                                        <p:tgtEl>
                                          <p:spTgt spid="2">
                                            <p:txEl>
                                              <p:pRg st="0" end="0"/>
                                            </p:txEl>
                                          </p:spTgt>
                                        </p:tgtEl>
                                      </p:cBhvr>
                                    </p:animEffect>
                                    <p:anim calcmode="lin" valueType="num">
                                      <p:cBhvr>
                                        <p:cTn id="2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2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allAtOnce" animBg="1"/>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43134C-432D-15FB-81CD-B0D1D6F7F74B}"/>
              </a:ext>
            </a:extLst>
          </p:cNvPr>
          <p:cNvSpPr/>
          <p:nvPr/>
        </p:nvSpPr>
        <p:spPr>
          <a:xfrm>
            <a:off x="4337901" y="273378"/>
            <a:ext cx="3516198" cy="999242"/>
          </a:xfrm>
          <a:prstGeom prst="rect">
            <a:avLst/>
          </a:prstGeom>
          <a:solidFill>
            <a:schemeClr val="bg1">
              <a:lumMod val="85000"/>
              <a:lumOff val="1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2400" b="1" dirty="0">
                <a:cs typeface="2  Mitra_2 (MRT)" panose="00000700000000000000" pitchFamily="2" charset="-78"/>
              </a:rPr>
              <a:t>یافتن ۵ همسایه نزدیک</a:t>
            </a:r>
          </a:p>
        </p:txBody>
      </p:sp>
      <p:pic>
        <p:nvPicPr>
          <p:cNvPr id="4" name="Picture 3">
            <a:extLst>
              <a:ext uri="{FF2B5EF4-FFF2-40B4-BE49-F238E27FC236}">
                <a16:creationId xmlns:a16="http://schemas.microsoft.com/office/drawing/2014/main" id="{DF4CBDB4-9A97-2E80-D0B9-4AD25CAA26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393" y="3741151"/>
            <a:ext cx="6407650" cy="1600423"/>
          </a:xfrm>
          <a:prstGeom prst="rect">
            <a:avLst/>
          </a:prstGeom>
          <a:effectLst>
            <a:glow rad="63500">
              <a:schemeClr val="accent5">
                <a:satMod val="175000"/>
                <a:alpha val="40000"/>
              </a:schemeClr>
            </a:glow>
            <a:reflection blurRad="6350" stA="50000" endA="300" endPos="55000" dir="5400000" sy="-100000" algn="bl" rotWithShape="0"/>
          </a:effectLst>
        </p:spPr>
      </p:pic>
      <p:sp>
        <p:nvSpPr>
          <p:cNvPr id="5" name="Rectangle 4">
            <a:extLst>
              <a:ext uri="{FF2B5EF4-FFF2-40B4-BE49-F238E27FC236}">
                <a16:creationId xmlns:a16="http://schemas.microsoft.com/office/drawing/2014/main" id="{EE066517-F416-3FBE-9B77-04BE868C7903}"/>
              </a:ext>
            </a:extLst>
          </p:cNvPr>
          <p:cNvSpPr/>
          <p:nvPr/>
        </p:nvSpPr>
        <p:spPr>
          <a:xfrm>
            <a:off x="7136091" y="1536569"/>
            <a:ext cx="4543719" cy="4572000"/>
          </a:xfrm>
          <a:prstGeom prst="rect">
            <a:avLst/>
          </a:prstGeom>
          <a:solidFill>
            <a:schemeClr val="bg1">
              <a:lumMod val="85000"/>
              <a:lumOff val="1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lnSpc>
                <a:spcPct val="150000"/>
              </a:lnSpc>
            </a:pPr>
            <a:r>
              <a:rPr lang="en-US" dirty="0" err="1">
                <a:cs typeface="2  Mitra_2 (MRT)" panose="00000700000000000000" pitchFamily="2" charset="-78"/>
              </a:rPr>
              <a:t>NearestNeighbors</a:t>
            </a:r>
            <a:r>
              <a:rPr lang="en-US" dirty="0">
                <a:cs typeface="2  Mitra_2 (MRT)" panose="00000700000000000000" pitchFamily="2" charset="-78"/>
              </a:rPr>
              <a:t> </a:t>
            </a:r>
            <a:r>
              <a:rPr lang="fa-IR" dirty="0">
                <a:cs typeface="2  Mitra_2 (MRT)" panose="00000700000000000000" pitchFamily="2" charset="-78"/>
              </a:rPr>
              <a:t>یک مدل بدون آموزش (چون </a:t>
            </a:r>
            <a:r>
              <a:rPr lang="en-US" dirty="0">
                <a:cs typeface="2  Mitra_2 (MRT)" panose="00000700000000000000" pitchFamily="2" charset="-78"/>
              </a:rPr>
              <a:t>lazy learning </a:t>
            </a:r>
            <a:r>
              <a:rPr lang="fa-IR" dirty="0">
                <a:cs typeface="2  Mitra_2 (MRT)" panose="00000700000000000000" pitchFamily="2" charset="-78"/>
              </a:rPr>
              <a:t>است) ایجاد می‌کند که فقط داده را نگه می‌دارد.</a:t>
            </a:r>
          </a:p>
          <a:p>
            <a:pPr algn="r" rtl="1">
              <a:lnSpc>
                <a:spcPct val="150000"/>
              </a:lnSpc>
            </a:pPr>
            <a:r>
              <a:rPr lang="en-US" dirty="0">
                <a:cs typeface="2  Mitra_2 (MRT)" panose="00000700000000000000" pitchFamily="2" charset="-78"/>
              </a:rPr>
              <a:t> </a:t>
            </a:r>
            <a:r>
              <a:rPr lang="en-US" dirty="0" err="1">
                <a:cs typeface="2  Mitra_2 (MRT)" panose="00000700000000000000" pitchFamily="2" charset="-78"/>
              </a:rPr>
              <a:t>n_neighbors</a:t>
            </a:r>
            <a:r>
              <a:rPr lang="en-US" dirty="0">
                <a:cs typeface="2  Mitra_2 (MRT)" panose="00000700000000000000" pitchFamily="2" charset="-78"/>
              </a:rPr>
              <a:t>=5 </a:t>
            </a:r>
            <a:r>
              <a:rPr lang="fa-IR" dirty="0">
                <a:cs typeface="2  Mitra_2 (MRT)" panose="00000700000000000000" pitchFamily="2" charset="-78"/>
              </a:rPr>
              <a:t>تعداد همسایگان مورد نظر.</a:t>
            </a:r>
          </a:p>
          <a:p>
            <a:pPr algn="r" rtl="1">
              <a:lnSpc>
                <a:spcPct val="150000"/>
              </a:lnSpc>
            </a:pPr>
            <a:r>
              <a:rPr lang="en-US" dirty="0">
                <a:cs typeface="2  Mitra_2 (MRT)" panose="00000700000000000000" pitchFamily="2" charset="-78"/>
              </a:rPr>
              <a:t> metric='</a:t>
            </a:r>
            <a:r>
              <a:rPr lang="en-US" dirty="0" err="1">
                <a:cs typeface="2  Mitra_2 (MRT)" panose="00000700000000000000" pitchFamily="2" charset="-78"/>
              </a:rPr>
              <a:t>euclidean</a:t>
            </a:r>
            <a:r>
              <a:rPr lang="en-US" dirty="0">
                <a:cs typeface="2  Mitra_2 (MRT)" panose="00000700000000000000" pitchFamily="2" charset="-78"/>
              </a:rPr>
              <a:t>' </a:t>
            </a:r>
            <a:r>
              <a:rPr lang="fa-IR" dirty="0">
                <a:cs typeface="2  Mitra_2 (MRT)" panose="00000700000000000000" pitchFamily="2" charset="-78"/>
              </a:rPr>
              <a:t>فاصله اقلیدسی.</a:t>
            </a:r>
          </a:p>
          <a:p>
            <a:pPr algn="r" rtl="1">
              <a:lnSpc>
                <a:spcPct val="150000"/>
              </a:lnSpc>
            </a:pPr>
            <a:r>
              <a:rPr lang="en-US" dirty="0">
                <a:cs typeface="2  Mitra_2 (MRT)" panose="00000700000000000000" pitchFamily="2" charset="-78"/>
              </a:rPr>
              <a:t> </a:t>
            </a:r>
            <a:r>
              <a:rPr lang="en-US" dirty="0" err="1">
                <a:cs typeface="2  Mitra_2 (MRT)" panose="00000700000000000000" pitchFamily="2" charset="-78"/>
              </a:rPr>
              <a:t>kneighbors</a:t>
            </a:r>
            <a:r>
              <a:rPr lang="en-US" dirty="0">
                <a:cs typeface="2  Mitra_2 (MRT)" panose="00000700000000000000" pitchFamily="2" charset="-78"/>
              </a:rPr>
              <a:t> </a:t>
            </a:r>
            <a:r>
              <a:rPr lang="fa-IR" dirty="0">
                <a:cs typeface="2  Mitra_2 (MRT)" panose="00000700000000000000" pitchFamily="2" charset="-78"/>
              </a:rPr>
              <a:t>برای نقطه پرس‌وجو (</a:t>
            </a:r>
            <a:r>
              <a:rPr lang="en-US" dirty="0">
                <a:cs typeface="2  Mitra_2 (MRT)" panose="00000700000000000000" pitchFamily="2" charset="-78"/>
              </a:rPr>
              <a:t>(query point</a:t>
            </a:r>
            <a:r>
              <a:rPr lang="fa-IR" dirty="0">
                <a:cs typeface="2  Mitra_2 (MRT)" panose="00000700000000000000" pitchFamily="2" charset="-78"/>
              </a:rPr>
              <a:t>فاصله تا نزدیک‌ترین‌ها و شاخص‌های آنها را برمی‌گرداند.</a:t>
            </a:r>
          </a:p>
          <a:p>
            <a:pPr algn="r" rtl="1">
              <a:lnSpc>
                <a:spcPct val="150000"/>
              </a:lnSpc>
            </a:pPr>
            <a:r>
              <a:rPr lang="fa-IR" dirty="0">
                <a:cs typeface="2  Mitra_2 (MRT)" panose="00000700000000000000" pitchFamily="2" charset="-78"/>
              </a:rPr>
              <a:t>خروجی: </a:t>
            </a:r>
            <a:r>
              <a:rPr lang="en-US" dirty="0">
                <a:cs typeface="2  Mitra_2 (MRT)" panose="00000700000000000000" pitchFamily="2" charset="-78"/>
              </a:rPr>
              <a:t>distances </a:t>
            </a:r>
            <a:r>
              <a:rPr lang="fa-IR" dirty="0">
                <a:cs typeface="2  Mitra_2 (MRT)" panose="00000700000000000000" pitchFamily="2" charset="-78"/>
              </a:rPr>
              <a:t>آرایه‌ای از فواصل (مرتب صعودی) و </a:t>
            </a:r>
            <a:r>
              <a:rPr lang="en-US" dirty="0">
                <a:cs typeface="2  Mitra_2 (MRT)" panose="00000700000000000000" pitchFamily="2" charset="-78"/>
              </a:rPr>
              <a:t> indices </a:t>
            </a:r>
            <a:r>
              <a:rPr lang="fa-IR" dirty="0">
                <a:cs typeface="2  Mitra_2 (MRT)" panose="00000700000000000000" pitchFamily="2" charset="-78"/>
              </a:rPr>
              <a:t>آرایه‌ای از اندیس‌های متناظر در </a:t>
            </a:r>
            <a:r>
              <a:rPr lang="en-US" dirty="0">
                <a:cs typeface="2  Mitra_2 (MRT)" panose="00000700000000000000" pitchFamily="2" charset="-78"/>
              </a:rPr>
              <a:t>(</a:t>
            </a:r>
            <a:r>
              <a:rPr lang="en-US" dirty="0" err="1">
                <a:cs typeface="2  Mitra_2 (MRT)" panose="00000700000000000000" pitchFamily="2" charset="-78"/>
              </a:rPr>
              <a:t>X_scaled</a:t>
            </a:r>
            <a:r>
              <a:rPr lang="en-US" dirty="0">
                <a:cs typeface="2  Mitra_2 (MRT)" panose="00000700000000000000" pitchFamily="2" charset="-78"/>
              </a:rPr>
              <a:t>)</a:t>
            </a:r>
          </a:p>
        </p:txBody>
      </p:sp>
    </p:spTree>
    <p:extLst>
      <p:ext uri="{BB962C8B-B14F-4D97-AF65-F5344CB8AC3E}">
        <p14:creationId xmlns:p14="http://schemas.microsoft.com/office/powerpoint/2010/main" val="3274943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1AD6ABC-C72D-CDDF-CF84-C41B8C0F0D28}"/>
              </a:ext>
            </a:extLst>
          </p:cNvPr>
          <p:cNvSpPr/>
          <p:nvPr/>
        </p:nvSpPr>
        <p:spPr>
          <a:xfrm>
            <a:off x="4059810" y="329938"/>
            <a:ext cx="4072379" cy="1140643"/>
          </a:xfrm>
          <a:prstGeom prst="rect">
            <a:avLst/>
          </a:prstGeom>
          <a:solidFill>
            <a:schemeClr val="bg1">
              <a:lumMod val="85000"/>
              <a:lumOff val="1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2800" b="1" dirty="0">
                <a:cs typeface="2  Mitra_2 (MRT)" panose="00000700000000000000" pitchFamily="2" charset="-78"/>
              </a:rPr>
              <a:t>نمایش نتایج در کنسول</a:t>
            </a:r>
          </a:p>
        </p:txBody>
      </p:sp>
      <p:sp>
        <p:nvSpPr>
          <p:cNvPr id="3" name="Rectangle 2">
            <a:extLst>
              <a:ext uri="{FF2B5EF4-FFF2-40B4-BE49-F238E27FC236}">
                <a16:creationId xmlns:a16="http://schemas.microsoft.com/office/drawing/2014/main" id="{5BB08C0F-D95F-2F62-33EC-0478C739ACC9}"/>
              </a:ext>
            </a:extLst>
          </p:cNvPr>
          <p:cNvSpPr/>
          <p:nvPr/>
        </p:nvSpPr>
        <p:spPr>
          <a:xfrm>
            <a:off x="7833674" y="1791092"/>
            <a:ext cx="4072379" cy="4166648"/>
          </a:xfrm>
          <a:prstGeom prst="rect">
            <a:avLst/>
          </a:prstGeom>
          <a:solidFill>
            <a:schemeClr val="bg1">
              <a:lumMod val="85000"/>
              <a:lumOff val="1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rtl="1">
              <a:lnSpc>
                <a:spcPct val="150000"/>
              </a:lnSpc>
            </a:pPr>
            <a:r>
              <a:rPr lang="en-US" dirty="0">
                <a:cs typeface="2  Mitra_2 (MRT)" panose="00000700000000000000" pitchFamily="2" charset="-78"/>
              </a:rPr>
              <a:t>indices[0] </a:t>
            </a:r>
            <a:r>
              <a:rPr lang="fa-IR" dirty="0">
                <a:cs typeface="2  Mitra_2 (MRT)" panose="00000700000000000000" pitchFamily="2" charset="-78"/>
              </a:rPr>
              <a:t>چون </a:t>
            </a:r>
            <a:r>
              <a:rPr lang="en-US" dirty="0" err="1">
                <a:cs typeface="2  Mitra_2 (MRT)" panose="00000700000000000000" pitchFamily="2" charset="-78"/>
              </a:rPr>
              <a:t>kneighbors</a:t>
            </a:r>
            <a:r>
              <a:rPr lang="en-US" dirty="0">
                <a:cs typeface="2  Mitra_2 (MRT)" panose="00000700000000000000" pitchFamily="2" charset="-78"/>
              </a:rPr>
              <a:t> </a:t>
            </a:r>
            <a:r>
              <a:rPr lang="fa-IR" dirty="0">
                <a:cs typeface="2  Mitra_2 (MRT)" panose="00000700000000000000" pitchFamily="2" charset="-78"/>
              </a:rPr>
              <a:t>برای یک نقطه خروجی با ابعاد</a:t>
            </a:r>
            <a:r>
              <a:rPr lang="en-US" dirty="0">
                <a:cs typeface="2  Mitra_2 (MRT)" panose="00000700000000000000" pitchFamily="2" charset="-78"/>
              </a:rPr>
              <a:t>)</a:t>
            </a:r>
            <a:r>
              <a:rPr lang="fa-IR" dirty="0">
                <a:cs typeface="2  Mitra_2 (MRT)" panose="00000700000000000000" pitchFamily="2" charset="-78"/>
              </a:rPr>
              <a:t>1,</a:t>
            </a:r>
            <a:r>
              <a:rPr lang="en-US" dirty="0">
                <a:cs typeface="2  Mitra_2 (MRT)" panose="00000700000000000000" pitchFamily="2" charset="-78"/>
              </a:rPr>
              <a:t>(k</a:t>
            </a:r>
            <a:r>
              <a:rPr lang="fa-IR" dirty="0">
                <a:cs typeface="2  Mitra_2 (MRT)" panose="00000700000000000000" pitchFamily="2" charset="-78"/>
              </a:rPr>
              <a:t>می‌دهد، اندیس سطر اول را می‌گیریم.</a:t>
            </a:r>
          </a:p>
          <a:p>
            <a:pPr algn="r" rtl="1">
              <a:lnSpc>
                <a:spcPct val="150000"/>
              </a:lnSpc>
            </a:pPr>
            <a:r>
              <a:rPr lang="fa-IR" dirty="0">
                <a:cs typeface="2  Mitra_2 (MRT)" panose="00000700000000000000" pitchFamily="2" charset="-78"/>
              </a:rPr>
              <a:t>با استفاده از </a:t>
            </a:r>
            <a:r>
              <a:rPr lang="en-US" dirty="0">
                <a:cs typeface="2  Mitra_2 (MRT)" panose="00000700000000000000" pitchFamily="2" charset="-78"/>
              </a:rPr>
              <a:t>y[indices[0]] </a:t>
            </a:r>
            <a:r>
              <a:rPr lang="fa-IR" dirty="0">
                <a:cs typeface="2  Mitra_2 (MRT)" panose="00000700000000000000" pitchFamily="2" charset="-78"/>
              </a:rPr>
              <a:t>برچسب کلاس واقعی همسایگان را می‌بینیم.</a:t>
            </a:r>
          </a:p>
          <a:p>
            <a:pPr algn="r" rtl="1">
              <a:lnSpc>
                <a:spcPct val="150000"/>
              </a:lnSpc>
            </a:pPr>
            <a:endParaRPr lang="en-US" dirty="0">
              <a:cs typeface="2  Mitra_2 (MRT)" panose="00000700000000000000" pitchFamily="2" charset="-78"/>
            </a:endParaRPr>
          </a:p>
        </p:txBody>
      </p:sp>
      <p:pic>
        <p:nvPicPr>
          <p:cNvPr id="5" name="Picture 4">
            <a:extLst>
              <a:ext uri="{FF2B5EF4-FFF2-40B4-BE49-F238E27FC236}">
                <a16:creationId xmlns:a16="http://schemas.microsoft.com/office/drawing/2014/main" id="{9DCAB1B1-E911-CFEA-8B76-0CC8E09606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1360" y="2950362"/>
            <a:ext cx="6906705" cy="1848108"/>
          </a:xfrm>
          <a:prstGeom prst="rect">
            <a:avLst/>
          </a:prstGeom>
          <a:effectLst>
            <a:glow rad="63500">
              <a:schemeClr val="accent5">
                <a:satMod val="175000"/>
                <a:alpha val="40000"/>
              </a:schemeClr>
            </a:glow>
            <a:reflection blurRad="6350" stA="50000" endA="300" endPos="55000" dir="5400000" sy="-100000" algn="bl" rotWithShape="0"/>
          </a:effectLst>
        </p:spPr>
      </p:pic>
    </p:spTree>
    <p:extLst>
      <p:ext uri="{BB962C8B-B14F-4D97-AF65-F5344CB8AC3E}">
        <p14:creationId xmlns:p14="http://schemas.microsoft.com/office/powerpoint/2010/main" val="1498558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384F669-76CC-1342-B8BC-1631196BF9B3}"/>
              </a:ext>
            </a:extLst>
          </p:cNvPr>
          <p:cNvSpPr/>
          <p:nvPr/>
        </p:nvSpPr>
        <p:spPr>
          <a:xfrm>
            <a:off x="359790" y="443060"/>
            <a:ext cx="11472420" cy="5712643"/>
          </a:xfrm>
          <a:prstGeom prst="rect">
            <a:avLst/>
          </a:prstGeom>
          <a:solidFill>
            <a:schemeClr val="bg1">
              <a:lumMod val="85000"/>
              <a:lumOff val="1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rtl="1"/>
            <a:r>
              <a:rPr lang="fa-IR" sz="2400" dirty="0">
                <a:cs typeface="2  Mitra_2 (MRT)" panose="00000700000000000000" pitchFamily="2" charset="-78"/>
              </a:rPr>
              <a:t>توصیه قلبی</a:t>
            </a:r>
          </a:p>
          <a:p>
            <a:pPr algn="r" rtl="1"/>
            <a:br>
              <a:rPr lang="fa-IR" dirty="0">
                <a:cs typeface="2  Mitra_2 (MRT)" panose="00000700000000000000" pitchFamily="2" charset="-78"/>
              </a:rPr>
            </a:br>
            <a:r>
              <a:rPr lang="fa-IR" dirty="0">
                <a:cs typeface="2  Mitra_2 (MRT)" panose="00000700000000000000" pitchFamily="2" charset="-78"/>
              </a:rPr>
              <a:t>دنیای ماشین لرنینگ امروز در همه جای زندگی ما نفوذ کرده است: از سیستم توصیه‌گر فیلم در نتفلیکس گرفته تا تشخیص تقلب بانکی، خودروهای خودران و حتی تشخیص بیماری از روی تصاویر پزشکی. این حوزه نه فقط یک تکنولوژی، بلکه یک </a:t>
            </a:r>
            <a:r>
              <a:rPr lang="fa-IR" b="1" dirty="0">
                <a:cs typeface="2  Mitra_2 (MRT)" panose="00000700000000000000" pitchFamily="2" charset="-78"/>
              </a:rPr>
              <a:t>روش تفکر</a:t>
            </a:r>
            <a:r>
              <a:rPr lang="fa-IR" dirty="0">
                <a:cs typeface="2  Mitra_2 (MRT)" panose="00000700000000000000" pitchFamily="2" charset="-78"/>
              </a:rPr>
              <a:t> است: روشی که در آن به جای برنامه‌نویسی صریح قوانین، به ماشین اجازه می‌دهیم از داده‌ها «یاد بگیرد».</a:t>
            </a:r>
          </a:p>
          <a:p>
            <a:pPr algn="r" rtl="1">
              <a:lnSpc>
                <a:spcPct val="150000"/>
              </a:lnSpc>
            </a:pPr>
            <a:r>
              <a:rPr lang="fa-IR" dirty="0">
                <a:cs typeface="2  Mitra_2 (MRT)" panose="00000700000000000000" pitchFamily="2" charset="-78"/>
              </a:rPr>
              <a:t>اما این دنیا بی‌چالش نیست. با وجود الگوریتم‌های قدرتمند (مانند </a:t>
            </a:r>
            <a:r>
              <a:rPr lang="en-US" dirty="0">
                <a:cs typeface="2  Mitra_2 (MRT)" panose="00000700000000000000" pitchFamily="2" charset="-78"/>
              </a:rPr>
              <a:t>KNN، </a:t>
            </a:r>
            <a:r>
              <a:rPr lang="fa-IR" dirty="0">
                <a:cs typeface="2  Mitra_2 (MRT)" panose="00000700000000000000" pitchFamily="2" charset="-78"/>
              </a:rPr>
              <a:t>جنگل تصادفی، شبکه‌های عصبی عمیق)، هیچ «نقره‌ای»ای وجود ندارد که همه مسائل را حل کند. موفقیت در ماشین لرنینگ نیازمند درک عمیق از ریاضیات آمار، مهندسی ویژگی‌ها، پیش‌پردازش داده، انتخاب مدل مناسب، ارزیابی صحیح و مهم‌تر از همه </a:t>
            </a:r>
            <a:r>
              <a:rPr lang="fa-IR" b="1" dirty="0">
                <a:cs typeface="2  Mitra_2 (MRT)" panose="00000700000000000000" pitchFamily="2" charset="-78"/>
              </a:rPr>
              <a:t>تشخیص مسئله کسب‌وکاری</a:t>
            </a:r>
            <a:r>
              <a:rPr lang="fa-IR" dirty="0">
                <a:cs typeface="2  Mitra_2 (MRT)" panose="00000700000000000000" pitchFamily="2" charset="-78"/>
              </a:rPr>
              <a:t> است که می‌خواهید حل کنید.</a:t>
            </a:r>
          </a:p>
          <a:p>
            <a:pPr algn="r" rtl="1">
              <a:lnSpc>
                <a:spcPct val="150000"/>
              </a:lnSpc>
            </a:pPr>
            <a:r>
              <a:rPr lang="fa-IR" dirty="0">
                <a:cs typeface="2  Mitra_2 (MRT)" panose="00000700000000000000" pitchFamily="2" charset="-78"/>
              </a:rPr>
              <a:t>دنیای ماشین لرنینگ بسیار شیرین و عمیق است، اما سرشار از شایعات و مسیرهای کاذب (مثل «در یک هفته متخصص شو»). </a:t>
            </a:r>
            <a:r>
              <a:rPr lang="fa-IR" b="1" dirty="0">
                <a:cs typeface="2  Mitra_2 (MRT)" panose="00000700000000000000" pitchFamily="2" charset="-78"/>
              </a:rPr>
              <a:t>هیچ جایگزینی برای تمرین عملی وجود ندارد.</a:t>
            </a:r>
            <a:br>
              <a:rPr lang="fa-IR" dirty="0">
                <a:cs typeface="2  Mitra_2 (MRT)" panose="00000700000000000000" pitchFamily="2" charset="-78"/>
              </a:rPr>
            </a:br>
            <a:r>
              <a:rPr lang="fa-IR" dirty="0">
                <a:cs typeface="2  Mitra_2 (MRT)" panose="00000700000000000000" pitchFamily="2" charset="-78"/>
              </a:rPr>
              <a:t>از همین امروز یک نوت‌بوک باز کنید، دیتاست </a:t>
            </a:r>
            <a:r>
              <a:rPr lang="en-US" dirty="0">
                <a:cs typeface="2  Mitra_2 (MRT)" panose="00000700000000000000" pitchFamily="2" charset="-78"/>
              </a:rPr>
              <a:t>Iris </a:t>
            </a:r>
            <a:r>
              <a:rPr lang="fa-IR" dirty="0">
                <a:cs typeface="2  Mitra_2 (MRT)" panose="00000700000000000000" pitchFamily="2" charset="-78"/>
              </a:rPr>
              <a:t>را بارگذاری کنید (همان که در پروژه </a:t>
            </a:r>
            <a:r>
              <a:rPr lang="en-US" dirty="0">
                <a:cs typeface="2  Mitra_2 (MRT)" panose="00000700000000000000" pitchFamily="2" charset="-78"/>
              </a:rPr>
              <a:t>KNN </a:t>
            </a:r>
            <a:r>
              <a:rPr lang="fa-IR" dirty="0">
                <a:cs typeface="2  Mitra_2 (MRT)" panose="00000700000000000000" pitchFamily="2" charset="-78"/>
              </a:rPr>
              <a:t>دیدیم)، و شروع کنید به تغییر </a:t>
            </a:r>
            <a:r>
              <a:rPr lang="en-US" dirty="0">
                <a:cs typeface="2  Mitra_2 (MRT)" panose="00000700000000000000" pitchFamily="2" charset="-78"/>
              </a:rPr>
              <a:t>K</a:t>
            </a:r>
            <a:r>
              <a:rPr lang="fa-IR" dirty="0">
                <a:cs typeface="2  Mitra_2 (MRT)" panose="00000700000000000000" pitchFamily="2" charset="-78"/>
              </a:rPr>
              <a:t>ها، رسم نمودارهای مختلف و دیدن تأثیر پارامترها. با هر پروژه کوچک، اعتماد به نفس شما بیشتر می‌شود.</a:t>
            </a:r>
          </a:p>
          <a:p>
            <a:pPr algn="r" rtl="1">
              <a:lnSpc>
                <a:spcPct val="150000"/>
              </a:lnSpc>
            </a:pPr>
            <a:r>
              <a:rPr lang="fa-IR" dirty="0">
                <a:cs typeface="2  Mitra_2 (MRT)" panose="00000700000000000000" pitchFamily="2" charset="-78"/>
              </a:rPr>
              <a:t>یادگیری ماشین لرنینگ یک سفر است، نه مقصد. از هر اشتباهی در ارزیابی مدل یا انتخاب ویژگی، یک درس می‌گیرید. اگر عاشق حل مسئله و کار با داده هستید، این راه برای شما ساخته شده است.</a:t>
            </a:r>
          </a:p>
          <a:p>
            <a:pPr algn="r" rtl="1">
              <a:lnSpc>
                <a:spcPct val="150000"/>
              </a:lnSpc>
            </a:pPr>
            <a:r>
              <a:rPr lang="fa-IR" b="1" dirty="0">
                <a:cs typeface="2  Mitra_2 (MRT)" panose="00000700000000000000" pitchFamily="2" charset="-78"/>
              </a:rPr>
              <a:t>موفق و پیروز باشید.</a:t>
            </a:r>
            <a:endParaRPr lang="fa-IR" dirty="0">
              <a:cs typeface="2  Mitra_2 (MRT)" panose="00000700000000000000" pitchFamily="2" charset="-78"/>
            </a:endParaRPr>
          </a:p>
          <a:p>
            <a:pPr algn="r" rtl="1"/>
            <a:endParaRPr lang="fa-IR" dirty="0">
              <a:cs typeface="2  Mitra_2 (MRT)" panose="00000700000000000000" pitchFamily="2" charset="-78"/>
            </a:endParaRPr>
          </a:p>
          <a:p>
            <a:pPr algn="r" rtl="1"/>
            <a:endParaRPr lang="fa-IR" dirty="0">
              <a:cs typeface="2  Mitra_2 (MRT)" panose="00000700000000000000" pitchFamily="2" charset="-78"/>
            </a:endParaRPr>
          </a:p>
        </p:txBody>
      </p:sp>
    </p:spTree>
    <p:extLst>
      <p:ext uri="{BB962C8B-B14F-4D97-AF65-F5344CB8AC3E}">
        <p14:creationId xmlns:p14="http://schemas.microsoft.com/office/powerpoint/2010/main" val="3507683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4E50AFAA-1B64-56B8-E4B8-4E3CE3AF8FFF}"/>
              </a:ext>
            </a:extLst>
          </p:cNvPr>
          <p:cNvGraphicFramePr/>
          <p:nvPr>
            <p:extLst>
              <p:ext uri="{D42A27DB-BD31-4B8C-83A1-F6EECF244321}">
                <p14:modId xmlns:p14="http://schemas.microsoft.com/office/powerpoint/2010/main" val="3230400542"/>
              </p:ext>
            </p:extLst>
          </p:nvPr>
        </p:nvGraphicFramePr>
        <p:xfrm>
          <a:off x="2032000" y="1461155"/>
          <a:ext cx="8128000" cy="37330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4" name="Diagram 3">
            <a:extLst>
              <a:ext uri="{FF2B5EF4-FFF2-40B4-BE49-F238E27FC236}">
                <a16:creationId xmlns:a16="http://schemas.microsoft.com/office/drawing/2014/main" id="{C2612741-066C-10EF-3732-28ACAFAABECF}"/>
              </a:ext>
            </a:extLst>
          </p:cNvPr>
          <p:cNvGraphicFramePr/>
          <p:nvPr>
            <p:extLst>
              <p:ext uri="{D42A27DB-BD31-4B8C-83A1-F6EECF244321}">
                <p14:modId xmlns:p14="http://schemas.microsoft.com/office/powerpoint/2010/main" val="41607102"/>
              </p:ext>
            </p:extLst>
          </p:nvPr>
        </p:nvGraphicFramePr>
        <p:xfrm>
          <a:off x="380214" y="738520"/>
          <a:ext cx="10347489" cy="485157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435698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CA72677B-2F8C-4192-8EBE-D360BE3B20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239</TotalTime>
  <Words>1773</Words>
  <Application>Microsoft Office PowerPoint</Application>
  <PresentationFormat>Widescreen</PresentationFormat>
  <Paragraphs>129</Paragraphs>
  <Slides>17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2  Mitra_2 (MRT)</vt:lpstr>
      <vt:lpstr>Arial</vt:lpstr>
      <vt:lpstr>Bookman Old Style</vt:lpstr>
      <vt:lpstr>Calibri</vt:lpstr>
      <vt:lpstr>Calibri Light</vt:lpstr>
      <vt:lpstr>Cambria Math</vt:lpstr>
      <vt:lpstr>Retrospect</vt:lpstr>
      <vt:lpstr>KNN(K Nearest Neighbors)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Hatef jani</dc:creator>
  <cp:lastModifiedBy>Hatef jani</cp:lastModifiedBy>
  <cp:revision>20</cp:revision>
  <dcterms:created xsi:type="dcterms:W3CDTF">2026-05-18T10:17:58Z</dcterms:created>
  <dcterms:modified xsi:type="dcterms:W3CDTF">2026-05-20T08:07:18Z</dcterms:modified>
</cp:coreProperties>
</file>